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Default Extension="svg" ContentType="image/sv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98" r:id="rId4"/>
    <p:sldId id="259" r:id="rId5"/>
    <p:sldId id="260" r:id="rId6"/>
    <p:sldId id="258" r:id="rId7"/>
    <p:sldId id="261" r:id="rId8"/>
    <p:sldId id="262" r:id="rId9"/>
    <p:sldId id="263" r:id="rId10"/>
    <p:sldId id="264" r:id="rId11"/>
    <p:sldId id="265" r:id="rId12"/>
    <p:sldId id="266" r:id="rId13"/>
    <p:sldId id="267" r:id="rId14"/>
    <p:sldId id="268" r:id="rId15"/>
    <p:sldId id="284" r:id="rId16"/>
    <p:sldId id="269" r:id="rId17"/>
    <p:sldId id="270" r:id="rId18"/>
    <p:sldId id="271" r:id="rId19"/>
    <p:sldId id="272" r:id="rId20"/>
    <p:sldId id="273" r:id="rId21"/>
    <p:sldId id="274" r:id="rId22"/>
    <p:sldId id="275" r:id="rId23"/>
    <p:sldId id="276" r:id="rId24"/>
    <p:sldId id="277" r:id="rId25"/>
    <p:sldId id="293" r:id="rId26"/>
    <p:sldId id="279" r:id="rId27"/>
    <p:sldId id="280" r:id="rId28"/>
    <p:sldId id="278" r:id="rId29"/>
    <p:sldId id="281" r:id="rId30"/>
    <p:sldId id="282" r:id="rId31"/>
    <p:sldId id="287" r:id="rId32"/>
    <p:sldId id="291" r:id="rId33"/>
    <p:sldId id="288" r:id="rId34"/>
    <p:sldId id="292" r:id="rId35"/>
    <p:sldId id="289" r:id="rId36"/>
    <p:sldId id="285" r:id="rId37"/>
    <p:sldId id="294" r:id="rId38"/>
    <p:sldId id="296" r:id="rId39"/>
    <p:sldId id="286" r:id="rId40"/>
  </p:sldIdLst>
  <p:sldSz cx="18288000" cy="10287000"/>
  <p:notesSz cx="6858000" cy="9144000"/>
  <p:embeddedFontLst>
    <p:embeddedFont>
      <p:font typeface="Cormorant Garamond Bold Italics" charset="0"/>
      <p:regular r:id="rId41"/>
    </p:embeddedFont>
    <p:embeddedFont>
      <p:font typeface="Quicksand Bold" charset="0"/>
      <p:regular r:id="rId42"/>
    </p:embeddedFont>
    <p:embeddedFont>
      <p:font typeface="Calibri" pitchFamily="34" charset="0"/>
      <p:regular r:id="rId43"/>
      <p:bold r:id="rId44"/>
      <p:italic r:id="rId45"/>
      <p:boldItalic r:id="rId46"/>
    </p:embeddedFont>
    <p:embeddedFont>
      <p:font typeface="Quicksand" charset="0"/>
      <p:regular r:id="rId47"/>
    </p:embeddedFont>
    <p:embeddedFont>
      <p:font typeface="Cormorant Garamond" charset="0"/>
      <p:regular r:id="rId48"/>
    </p:embeddedFont>
    <p:embeddedFont>
      <p:font typeface="Cormorant Garamond Bold" charset="0"/>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15" autoAdjust="0"/>
    <p:restoredTop sz="94622" autoAdjust="0"/>
  </p:normalViewPr>
  <p:slideViewPr>
    <p:cSldViewPr>
      <p:cViewPr varScale="1">
        <p:scale>
          <a:sx n="46" d="100"/>
          <a:sy n="46" d="100"/>
        </p:scale>
        <p:origin x="-44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5.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66800" y="2857500"/>
            <a:ext cx="16245006" cy="4544321"/>
          </a:xfrm>
          <a:prstGeom prst="rect">
            <a:avLst/>
          </a:prstGeom>
        </p:spPr>
        <p:txBody>
          <a:bodyPr lIns="0" tIns="0" rIns="0" bIns="0" rtlCol="0" anchor="t">
            <a:spAutoFit/>
          </a:bodyPr>
          <a:lstStyle/>
          <a:p>
            <a:pPr algn="ctr">
              <a:lnSpc>
                <a:spcPts val="11994"/>
              </a:lnSpc>
            </a:pPr>
            <a:r>
              <a:rPr lang="en-US" sz="8567" b="1" i="1" dirty="0" smtClean="0">
                <a:solidFill>
                  <a:srgbClr val="0F4662"/>
                </a:solidFill>
                <a:latin typeface="Cormorant Garamond Bold Italics"/>
                <a:ea typeface="Cormorant Garamond Bold Italics"/>
                <a:cs typeface="Cormorant Garamond Bold Italics"/>
                <a:sym typeface="Cormorant Garamond Bold Italics"/>
              </a:rPr>
              <a:t>AI </a:t>
            </a:r>
            <a:r>
              <a:rPr lang="en-US" sz="8800" dirty="0" smtClean="0">
                <a:solidFill>
                  <a:srgbClr val="0F4662"/>
                </a:solidFill>
                <a:latin typeface="Quicksand Bold"/>
                <a:ea typeface="Quicksand Bold"/>
                <a:cs typeface="Quicksand Bold"/>
                <a:sym typeface="Quicksand Bold"/>
              </a:rPr>
              <a:t>-</a:t>
            </a:r>
            <a:r>
              <a:rPr lang="en-US" sz="8567" b="1" i="1" dirty="0" smtClean="0">
                <a:solidFill>
                  <a:srgbClr val="0F4662"/>
                </a:solidFill>
                <a:latin typeface="Cormorant Garamond Bold Italics"/>
                <a:ea typeface="Cormorant Garamond Bold Italics"/>
                <a:cs typeface="Cormorant Garamond Bold Italics"/>
                <a:sym typeface="Cormorant Garamond Bold Italics"/>
              </a:rPr>
              <a:t> POWERED ACCESSIBILITY FOR EFFECTIVE COMMUNICATION IN VIRTUAL PLATFORMS</a:t>
            </a:r>
            <a:endParaRPr lang="en-US" sz="8567"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3" name="AutoShape 3"/>
          <p:cNvSpPr/>
          <p:nvPr/>
        </p:nvSpPr>
        <p:spPr>
          <a:xfrm>
            <a:off x="9158735" y="990600"/>
            <a:ext cx="8114971" cy="0"/>
          </a:xfrm>
          <a:prstGeom prst="line">
            <a:avLst/>
          </a:prstGeom>
          <a:ln w="76200" cap="flat">
            <a:solidFill>
              <a:srgbClr val="0F4662"/>
            </a:solidFill>
            <a:prstDash val="solid"/>
            <a:headEnd type="none" w="sm" len="sm"/>
            <a:tailEnd type="none" w="sm" len="sm"/>
          </a:ln>
        </p:spPr>
      </p:sp>
      <p:sp>
        <p:nvSpPr>
          <p:cNvPr id="4" name="AutoShape 4"/>
          <p:cNvSpPr/>
          <p:nvPr/>
        </p:nvSpPr>
        <p:spPr>
          <a:xfrm>
            <a:off x="1043764" y="9296400"/>
            <a:ext cx="8114971" cy="0"/>
          </a:xfrm>
          <a:prstGeom prst="line">
            <a:avLst/>
          </a:prstGeom>
          <a:ln w="76200" cap="flat">
            <a:solidFill>
              <a:srgbClr val="0F4662"/>
            </a:solidFill>
            <a:prstDash val="solid"/>
            <a:headEnd type="none" w="sm" len="sm"/>
            <a:tailEnd type="none" w="sm" len="sm"/>
          </a:ln>
        </p:spPr>
      </p:sp>
      <p:sp>
        <p:nvSpPr>
          <p:cNvPr id="5" name="Freeform 5"/>
          <p:cNvSpPr/>
          <p:nvPr/>
        </p:nvSpPr>
        <p:spPr>
          <a:xfrm>
            <a:off x="9618706" y="90374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5646742" y="8078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701926"/>
            <a:chOff x="0" y="0"/>
            <a:chExt cx="4816593" cy="1079700"/>
          </a:xfrm>
        </p:grpSpPr>
        <p:sp>
          <p:nvSpPr>
            <p:cNvPr id="3" name="Freeform 3"/>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sp>
        <p:sp>
          <p:nvSpPr>
            <p:cNvPr id="4" name="TextBox 4"/>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sp>
        <p:nvSpPr>
          <p:cNvPr id="5" name="AutoShape 5"/>
          <p:cNvSpPr/>
          <p:nvPr/>
        </p:nvSpPr>
        <p:spPr>
          <a:xfrm>
            <a:off x="5897880" y="8681205"/>
            <a:ext cx="6492240" cy="0"/>
          </a:xfrm>
          <a:prstGeom prst="line">
            <a:avLst/>
          </a:prstGeom>
          <a:ln w="76200" cap="flat">
            <a:solidFill>
              <a:srgbClr val="0F4662"/>
            </a:solidFill>
            <a:prstDash val="solid"/>
            <a:headEnd type="none" w="sm" len="sm"/>
            <a:tailEnd type="none" w="sm" len="sm"/>
          </a:ln>
        </p:spPr>
      </p:sp>
      <p:sp>
        <p:nvSpPr>
          <p:cNvPr id="6" name="Freeform 6"/>
          <p:cNvSpPr/>
          <p:nvPr/>
        </p:nvSpPr>
        <p:spPr>
          <a:xfrm>
            <a:off x="8304001" y="9529723"/>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7" name="TextBox 7"/>
          <p:cNvSpPr txBox="1"/>
          <p:nvPr/>
        </p:nvSpPr>
        <p:spPr>
          <a:xfrm>
            <a:off x="688418" y="3014271"/>
            <a:ext cx="4957482" cy="1085215"/>
          </a:xfrm>
          <a:prstGeom prst="rect">
            <a:avLst/>
          </a:prstGeom>
        </p:spPr>
        <p:txBody>
          <a:bodyPr lIns="0" tIns="0" rIns="0" bIns="0" rtlCol="0" anchor="t">
            <a:spAutoFit/>
          </a:bodyPr>
          <a:lstStyle/>
          <a:p>
            <a:pPr marL="0" lvl="0" indent="0" algn="l">
              <a:lnSpc>
                <a:spcPts val="8959"/>
              </a:lnSpc>
              <a:spcBef>
                <a:spcPct val="0"/>
              </a:spcBef>
            </a:pPr>
            <a:r>
              <a:rPr lang="en-US" sz="6399" b="1" i="1" u="sng">
                <a:solidFill>
                  <a:srgbClr val="0F4662"/>
                </a:solidFill>
                <a:latin typeface="Cormorant Garamond Bold Italics"/>
                <a:ea typeface="Cormorant Garamond Bold Italics"/>
                <a:cs typeface="Cormorant Garamond Bold Italics"/>
                <a:sym typeface="Cormorant Garamond Bold Italics"/>
              </a:rPr>
              <a:t>Team Members</a:t>
            </a:r>
          </a:p>
        </p:txBody>
      </p:sp>
      <p:sp>
        <p:nvSpPr>
          <p:cNvPr id="8" name="TextBox 8"/>
          <p:cNvSpPr txBox="1"/>
          <p:nvPr/>
        </p:nvSpPr>
        <p:spPr>
          <a:xfrm>
            <a:off x="688418" y="964528"/>
            <a:ext cx="5988104" cy="1099019"/>
          </a:xfrm>
          <a:prstGeom prst="rect">
            <a:avLst/>
          </a:prstGeom>
        </p:spPr>
        <p:txBody>
          <a:bodyPr lIns="0" tIns="0" rIns="0" bIns="0" rtlCol="0" anchor="t">
            <a:spAutoFit/>
          </a:bodyPr>
          <a:lstStyle/>
          <a:p>
            <a:pPr marL="0" lvl="0" indent="0" algn="l">
              <a:lnSpc>
                <a:spcPts val="8959"/>
              </a:lnSpc>
              <a:spcBef>
                <a:spcPct val="0"/>
              </a:spcBef>
            </a:pPr>
            <a:r>
              <a:rPr lang="en-US" sz="6399" b="1" i="1" u="sng" dirty="0" smtClean="0">
                <a:solidFill>
                  <a:srgbClr val="0F4662"/>
                </a:solidFill>
                <a:latin typeface="Cormorant Garamond Bold Italics"/>
                <a:ea typeface="Cormorant Garamond Bold Italics"/>
                <a:cs typeface="Cormorant Garamond Bold Italics"/>
                <a:sym typeface="Cormorant Garamond Bold Italics"/>
              </a:rPr>
              <a:t>Team Guide Name </a:t>
            </a:r>
            <a:r>
              <a:rPr lang="en-US" sz="6399" b="1" i="1" u="sng" dirty="0" smtClean="0">
                <a:solidFill>
                  <a:srgbClr val="0F4662"/>
                </a:solidFill>
                <a:latin typeface="Cormorant Garamond Bold Italics"/>
                <a:ea typeface="Cormorant Garamond Bold Italics"/>
                <a:cs typeface="Cormorant Garamond Bold Italics"/>
                <a:sym typeface="Cormorant Garamond Bold Italics"/>
              </a:rPr>
              <a:t>  </a:t>
            </a:r>
            <a:endParaRPr lang="en-US" sz="6399" b="1" i="1" u="sng" dirty="0">
              <a:solidFill>
                <a:srgbClr val="0F4662"/>
              </a:solidFill>
              <a:latin typeface="Cormorant Garamond Bold Italics"/>
              <a:ea typeface="Cormorant Garamond Bold Italics"/>
              <a:cs typeface="Cormorant Garamond Bold Italics"/>
              <a:sym typeface="Cormorant Garamond Bold Italics"/>
            </a:endParaRPr>
          </a:p>
        </p:txBody>
      </p:sp>
      <p:sp>
        <p:nvSpPr>
          <p:cNvPr id="9" name="TextBox 9"/>
          <p:cNvSpPr txBox="1"/>
          <p:nvPr/>
        </p:nvSpPr>
        <p:spPr>
          <a:xfrm>
            <a:off x="6934200" y="1257300"/>
            <a:ext cx="5873627" cy="687998"/>
          </a:xfrm>
          <a:prstGeom prst="rect">
            <a:avLst/>
          </a:prstGeom>
        </p:spPr>
        <p:txBody>
          <a:bodyPr lIns="0" tIns="0" rIns="0" bIns="0" rtlCol="0" anchor="t">
            <a:spAutoFit/>
          </a:bodyPr>
          <a:lstStyle/>
          <a:p>
            <a:pPr marL="0" lvl="0" indent="0" algn="ctr">
              <a:lnSpc>
                <a:spcPts val="5653"/>
              </a:lnSpc>
              <a:spcBef>
                <a:spcPct val="0"/>
              </a:spcBef>
            </a:pPr>
            <a:r>
              <a:rPr lang="en-US" sz="4038" b="1" u="none" strike="noStrike" dirty="0">
                <a:solidFill>
                  <a:srgbClr val="000000"/>
                </a:solidFill>
                <a:latin typeface="Quicksand Bold"/>
                <a:ea typeface="Quicksand Bold"/>
                <a:cs typeface="Quicksand Bold"/>
                <a:sym typeface="Quicksand Bold"/>
              </a:rPr>
              <a:t>Dr. J</a:t>
            </a:r>
            <a:r>
              <a:rPr lang="en-US" sz="4038" b="1" dirty="0">
                <a:solidFill>
                  <a:srgbClr val="000000"/>
                </a:solidFill>
                <a:latin typeface="Quicksand Bold"/>
                <a:ea typeface="Quicksand Bold"/>
                <a:cs typeface="Quicksand Bold"/>
                <a:sym typeface="Quicksand Bold"/>
              </a:rPr>
              <a:t>. </a:t>
            </a:r>
            <a:r>
              <a:rPr lang="en-US" sz="4038" b="1" u="none" strike="noStrike" dirty="0" smtClean="0">
                <a:solidFill>
                  <a:srgbClr val="000000"/>
                </a:solidFill>
                <a:latin typeface="Quicksand Bold"/>
                <a:ea typeface="Quicksand Bold"/>
                <a:cs typeface="Quicksand Bold"/>
                <a:sym typeface="Quicksand Bold"/>
              </a:rPr>
              <a:t>DAPHNEY </a:t>
            </a:r>
            <a:r>
              <a:rPr lang="en-US" sz="4038" b="1" dirty="0" smtClean="0">
                <a:solidFill>
                  <a:srgbClr val="000000"/>
                </a:solidFill>
                <a:latin typeface="Quicksand Bold"/>
                <a:ea typeface="Quicksand Bold"/>
                <a:cs typeface="Quicksand Bold"/>
                <a:sym typeface="Quicksand Bold"/>
              </a:rPr>
              <a:t>J</a:t>
            </a:r>
            <a:r>
              <a:rPr lang="en-US" sz="4038" b="1" u="none" strike="noStrike" dirty="0" smtClean="0">
                <a:solidFill>
                  <a:srgbClr val="000000"/>
                </a:solidFill>
                <a:latin typeface="Quicksand Bold"/>
                <a:ea typeface="Quicksand Bold"/>
                <a:cs typeface="Quicksand Bold"/>
                <a:sym typeface="Quicksand Bold"/>
              </a:rPr>
              <a:t>OANN</a:t>
            </a:r>
            <a:endParaRPr lang="en-US" sz="4038" b="1" u="none" strike="noStrike" dirty="0">
              <a:solidFill>
                <a:srgbClr val="000000"/>
              </a:solidFill>
              <a:latin typeface="Quicksand Bold"/>
              <a:ea typeface="Quicksand Bold"/>
              <a:cs typeface="Quicksand Bold"/>
              <a:sym typeface="Quicksand Bold"/>
            </a:endParaRPr>
          </a:p>
        </p:txBody>
      </p:sp>
      <p:sp>
        <p:nvSpPr>
          <p:cNvPr id="10" name="TextBox 10"/>
          <p:cNvSpPr txBox="1"/>
          <p:nvPr/>
        </p:nvSpPr>
        <p:spPr>
          <a:xfrm>
            <a:off x="6400800" y="1333500"/>
            <a:ext cx="530692" cy="687998"/>
          </a:xfrm>
          <a:prstGeom prst="rect">
            <a:avLst/>
          </a:prstGeom>
        </p:spPr>
        <p:txBody>
          <a:bodyPr lIns="0" tIns="0" rIns="0" bIns="0" rtlCol="0" anchor="t">
            <a:spAutoFit/>
          </a:bodyPr>
          <a:lstStyle/>
          <a:p>
            <a:pPr marL="0" lvl="0" indent="0" algn="ctr">
              <a:lnSpc>
                <a:spcPts val="5653"/>
              </a:lnSpc>
              <a:spcBef>
                <a:spcPct val="0"/>
              </a:spcBef>
            </a:pPr>
            <a:r>
              <a:rPr lang="en-US" sz="4038" b="1" dirty="0">
                <a:solidFill>
                  <a:srgbClr val="0F4662"/>
                </a:solidFill>
                <a:latin typeface="Quicksand Bold"/>
                <a:ea typeface="Quicksand Bold"/>
                <a:cs typeface="Quicksand Bold"/>
                <a:sym typeface="Quicksand Bold"/>
              </a:rPr>
              <a:t>-</a:t>
            </a:r>
          </a:p>
        </p:txBody>
      </p:sp>
      <p:sp>
        <p:nvSpPr>
          <p:cNvPr id="11" name="TextBox 11"/>
          <p:cNvSpPr txBox="1"/>
          <p:nvPr/>
        </p:nvSpPr>
        <p:spPr>
          <a:xfrm>
            <a:off x="3466219" y="4939370"/>
            <a:ext cx="9675564" cy="2769989"/>
          </a:xfrm>
          <a:prstGeom prst="rect">
            <a:avLst/>
          </a:prstGeom>
        </p:spPr>
        <p:txBody>
          <a:bodyPr lIns="0" tIns="0" rIns="0" bIns="0" rtlCol="0" anchor="t">
            <a:spAutoFit/>
          </a:bodyPr>
          <a:lstStyle/>
          <a:p>
            <a:pPr marL="690876" lvl="1" indent="-345438" algn="just">
              <a:lnSpc>
                <a:spcPts val="5439"/>
              </a:lnSpc>
              <a:buFont typeface="Arial"/>
              <a:buChar char="•"/>
            </a:pPr>
            <a:r>
              <a:rPr lang="en-US" sz="3600" b="1" dirty="0" err="1">
                <a:solidFill>
                  <a:srgbClr val="000000"/>
                </a:solidFill>
                <a:latin typeface="Quicksand Bold"/>
                <a:ea typeface="Quicksand Bold"/>
                <a:cs typeface="Quicksand Bold"/>
                <a:sym typeface="Quicksand"/>
              </a:rPr>
              <a:t>Dinesh</a:t>
            </a:r>
            <a:r>
              <a:rPr lang="en-US" sz="3600" b="1" dirty="0">
                <a:solidFill>
                  <a:srgbClr val="000000"/>
                </a:solidFill>
                <a:latin typeface="Quicksand Bold"/>
                <a:ea typeface="Quicksand Bold"/>
                <a:cs typeface="Quicksand Bold"/>
                <a:sym typeface="Quicksand"/>
              </a:rPr>
              <a:t> Kumar. G        -  510921104009</a:t>
            </a:r>
          </a:p>
          <a:p>
            <a:pPr marL="690876" lvl="1" indent="-345438" algn="just">
              <a:lnSpc>
                <a:spcPts val="5439"/>
              </a:lnSpc>
              <a:buFont typeface="Arial"/>
              <a:buChar char="•"/>
            </a:pPr>
            <a:r>
              <a:rPr lang="en-US" sz="3600" b="1" dirty="0" smtClean="0">
                <a:solidFill>
                  <a:srgbClr val="000000"/>
                </a:solidFill>
                <a:latin typeface="Quicksand Bold"/>
                <a:ea typeface="Quicksand Bold"/>
                <a:cs typeface="Quicksand Bold"/>
                <a:sym typeface="Quicksand"/>
              </a:rPr>
              <a:t>Mohammed </a:t>
            </a:r>
            <a:r>
              <a:rPr lang="en-US" sz="3600" b="1" dirty="0" err="1">
                <a:solidFill>
                  <a:srgbClr val="000000"/>
                </a:solidFill>
                <a:latin typeface="Quicksand Bold"/>
                <a:ea typeface="Quicksand Bold"/>
                <a:cs typeface="Quicksand Bold"/>
                <a:sym typeface="Quicksand"/>
              </a:rPr>
              <a:t>Shamil</a:t>
            </a:r>
            <a:r>
              <a:rPr lang="en-US" sz="3600" b="1" dirty="0">
                <a:solidFill>
                  <a:srgbClr val="000000"/>
                </a:solidFill>
                <a:latin typeface="Quicksand Bold"/>
                <a:ea typeface="Quicksand Bold"/>
                <a:cs typeface="Quicksand Bold"/>
                <a:sym typeface="Quicksand"/>
              </a:rPr>
              <a:t>   -  510921104028</a:t>
            </a:r>
          </a:p>
          <a:p>
            <a:pPr marL="690876" lvl="1" indent="-345438" algn="just">
              <a:lnSpc>
                <a:spcPts val="5439"/>
              </a:lnSpc>
              <a:buFont typeface="Arial"/>
              <a:buChar char="•"/>
            </a:pPr>
            <a:r>
              <a:rPr lang="en-US" sz="3600" b="1" dirty="0" err="1">
                <a:solidFill>
                  <a:srgbClr val="000000"/>
                </a:solidFill>
                <a:latin typeface="Quicksand Bold"/>
                <a:ea typeface="Quicksand Bold"/>
                <a:cs typeface="Quicksand Bold"/>
                <a:sym typeface="Quicksand"/>
              </a:rPr>
              <a:t>Raashid</a:t>
            </a:r>
            <a:r>
              <a:rPr lang="en-US" sz="3600" b="1" dirty="0">
                <a:solidFill>
                  <a:srgbClr val="000000"/>
                </a:solidFill>
                <a:latin typeface="Quicksand Bold"/>
                <a:ea typeface="Quicksand Bold"/>
                <a:cs typeface="Quicksand Bold"/>
                <a:sym typeface="Quicksand"/>
              </a:rPr>
              <a:t>. A                  -  510921104040</a:t>
            </a:r>
          </a:p>
          <a:p>
            <a:pPr marL="690876" lvl="1" indent="-345438" algn="just">
              <a:lnSpc>
                <a:spcPts val="5439"/>
              </a:lnSpc>
              <a:buFont typeface="Arial"/>
              <a:buChar char="•"/>
            </a:pPr>
            <a:r>
              <a:rPr lang="en-US" sz="3600" b="1" dirty="0" err="1">
                <a:solidFill>
                  <a:srgbClr val="000000"/>
                </a:solidFill>
                <a:latin typeface="Quicksand Bold"/>
                <a:ea typeface="Quicksand Bold"/>
                <a:cs typeface="Quicksand Bold"/>
                <a:sym typeface="Quicksand"/>
              </a:rPr>
              <a:t>Santhosh</a:t>
            </a:r>
            <a:r>
              <a:rPr lang="en-US" sz="3600" b="1" dirty="0">
                <a:solidFill>
                  <a:srgbClr val="000000"/>
                </a:solidFill>
                <a:latin typeface="Quicksand Bold"/>
                <a:ea typeface="Quicksand Bold"/>
                <a:cs typeface="Quicksand Bold"/>
                <a:sym typeface="Quicksand"/>
              </a:rPr>
              <a:t>. V                -  510921104047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295400" y="1333500"/>
            <a:ext cx="5334000" cy="1538883"/>
          </a:xfrm>
          <a:prstGeom prst="rect">
            <a:avLst/>
          </a:prstGeom>
        </p:spPr>
        <p:txBody>
          <a:bodyPr wrap="square" lIns="0" tIns="0" rIns="0" bIns="0" rtlCol="0" anchor="t">
            <a:spAutoFit/>
          </a:bodyPr>
          <a:lstStyle/>
          <a:p>
            <a:pPr marL="0" lvl="0" indent="0" algn="ctr">
              <a:lnSpc>
                <a:spcPts val="11994"/>
              </a:lnSpc>
              <a:spcBef>
                <a:spcPct val="0"/>
              </a:spcBef>
            </a:pPr>
            <a:r>
              <a:rPr lang="en-US" sz="8567" b="1" i="1" dirty="0" smtClean="0">
                <a:solidFill>
                  <a:srgbClr val="0F4662"/>
                </a:solidFill>
                <a:latin typeface="Cormorant Garamond Bold Italics"/>
                <a:ea typeface="Cormorant Garamond Bold Italics"/>
                <a:cs typeface="Cormorant Garamond Bold Italics"/>
                <a:sym typeface="Cormorant Garamond Bold Italics"/>
              </a:rPr>
              <a:t>C</a:t>
            </a:r>
            <a:r>
              <a:rPr lang="en-US" sz="8567" b="1" i="1" dirty="0" smtClean="0">
                <a:solidFill>
                  <a:srgbClr val="0F4662"/>
                </a:solidFill>
                <a:latin typeface="Cormorant Garamond Bold Italics"/>
                <a:ea typeface="Cormorant Garamond Bold Italics"/>
                <a:cs typeface="Cormorant Garamond Bold Italics"/>
                <a:sym typeface="Cormorant Garamond Bold Italics"/>
              </a:rPr>
              <a:t>ONTENTS</a:t>
            </a:r>
            <a:endParaRPr lang="en-US" sz="8567"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3" name="AutoShape 3"/>
          <p:cNvSpPr/>
          <p:nvPr/>
        </p:nvSpPr>
        <p:spPr>
          <a:xfrm>
            <a:off x="9158735" y="990600"/>
            <a:ext cx="8114971" cy="0"/>
          </a:xfrm>
          <a:prstGeom prst="line">
            <a:avLst/>
          </a:prstGeom>
          <a:ln w="76200" cap="flat">
            <a:solidFill>
              <a:srgbClr val="0F4662"/>
            </a:solidFill>
            <a:prstDash val="solid"/>
            <a:headEnd type="none" w="sm" len="sm"/>
            <a:tailEnd type="none" w="sm" len="sm"/>
          </a:ln>
        </p:spPr>
      </p:sp>
      <p:sp>
        <p:nvSpPr>
          <p:cNvPr id="4" name="AutoShape 4"/>
          <p:cNvSpPr/>
          <p:nvPr/>
        </p:nvSpPr>
        <p:spPr>
          <a:xfrm>
            <a:off x="1043764" y="9296400"/>
            <a:ext cx="8114971" cy="0"/>
          </a:xfrm>
          <a:prstGeom prst="line">
            <a:avLst/>
          </a:prstGeom>
          <a:ln w="76200" cap="flat">
            <a:solidFill>
              <a:srgbClr val="0F4662"/>
            </a:solidFill>
            <a:prstDash val="solid"/>
            <a:headEnd type="none" w="sm" len="sm"/>
            <a:tailEnd type="none" w="sm" len="sm"/>
          </a:ln>
        </p:spPr>
      </p:sp>
      <p:sp>
        <p:nvSpPr>
          <p:cNvPr id="5" name="Freeform 5"/>
          <p:cNvSpPr/>
          <p:nvPr/>
        </p:nvSpPr>
        <p:spPr>
          <a:xfrm>
            <a:off x="9618706" y="90374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5646742" y="8078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7" name="TextBox 6"/>
          <p:cNvSpPr txBox="1"/>
          <p:nvPr/>
        </p:nvSpPr>
        <p:spPr>
          <a:xfrm>
            <a:off x="1600200" y="2857500"/>
            <a:ext cx="7162800" cy="5886227"/>
          </a:xfrm>
          <a:prstGeom prst="rect">
            <a:avLst/>
          </a:prstGeom>
        </p:spPr>
        <p:txBody>
          <a:bodyPr wrap="square" lIns="0" tIns="0" rIns="0" bIns="0" rtlCol="0" anchor="t">
            <a:spAutoFit/>
          </a:bodyPr>
          <a:lstStyle/>
          <a:p>
            <a:pPr marL="647700" lvl="1" indent="-323850" algn="just">
              <a:lnSpc>
                <a:spcPts val="5100"/>
              </a:lnSpc>
              <a:buFont typeface="Arial"/>
              <a:buChar char="•"/>
            </a:pPr>
            <a:r>
              <a:rPr lang="en-US" sz="3000" b="1" dirty="0" smtClean="0">
                <a:solidFill>
                  <a:srgbClr val="0F4662"/>
                </a:solidFill>
                <a:latin typeface="Quicksand"/>
                <a:ea typeface="Quicksand"/>
                <a:cs typeface="Quicksand"/>
                <a:sym typeface="Quicksand"/>
              </a:rPr>
              <a:t>Abstract</a:t>
            </a:r>
          </a:p>
          <a:p>
            <a:pPr marL="647700" lvl="1" indent="-323850" algn="just">
              <a:lnSpc>
                <a:spcPts val="5100"/>
              </a:lnSpc>
              <a:buFont typeface="Arial"/>
              <a:buChar char="•"/>
            </a:pPr>
            <a:r>
              <a:rPr lang="en-US" sz="3000" b="1" dirty="0" smtClean="0">
                <a:solidFill>
                  <a:srgbClr val="0F4662"/>
                </a:solidFill>
                <a:latin typeface="Quicksand"/>
                <a:ea typeface="Quicksand"/>
                <a:cs typeface="Quicksand"/>
                <a:sym typeface="Quicksand"/>
              </a:rPr>
              <a:t>Introduction</a:t>
            </a:r>
          </a:p>
          <a:p>
            <a:pPr marL="647700" lvl="1" indent="-323850" algn="just">
              <a:lnSpc>
                <a:spcPts val="5100"/>
              </a:lnSpc>
              <a:buFont typeface="Arial"/>
              <a:buChar char="•"/>
            </a:pPr>
            <a:r>
              <a:rPr lang="en-US" sz="3000" b="1" dirty="0" smtClean="0">
                <a:solidFill>
                  <a:srgbClr val="0F4662"/>
                </a:solidFill>
                <a:latin typeface="Quicksand"/>
                <a:ea typeface="Quicksand"/>
                <a:cs typeface="Quicksand"/>
                <a:sym typeface="Quicksand"/>
              </a:rPr>
              <a:t>Objectives</a:t>
            </a:r>
          </a:p>
          <a:p>
            <a:pPr marL="647700" lvl="1" indent="-323850" algn="just">
              <a:lnSpc>
                <a:spcPts val="5100"/>
              </a:lnSpc>
              <a:buFont typeface="Arial"/>
              <a:buChar char="•"/>
            </a:pPr>
            <a:r>
              <a:rPr lang="en-US" sz="3000" b="1" dirty="0" smtClean="0">
                <a:solidFill>
                  <a:srgbClr val="0F4662"/>
                </a:solidFill>
                <a:latin typeface="Quicksand"/>
                <a:ea typeface="Quicksand"/>
                <a:cs typeface="Quicksand"/>
                <a:sym typeface="Quicksand"/>
              </a:rPr>
              <a:t>Literature Survey</a:t>
            </a:r>
          </a:p>
          <a:p>
            <a:pPr marL="647700" lvl="1" indent="-323850" algn="just">
              <a:lnSpc>
                <a:spcPts val="5100"/>
              </a:lnSpc>
              <a:buFont typeface="Arial"/>
              <a:buChar char="•"/>
            </a:pPr>
            <a:r>
              <a:rPr lang="en-US" sz="3000" b="1" dirty="0" smtClean="0">
                <a:solidFill>
                  <a:srgbClr val="0F4662"/>
                </a:solidFill>
                <a:latin typeface="Quicksand"/>
                <a:ea typeface="Quicksand"/>
                <a:cs typeface="Quicksand"/>
                <a:sym typeface="Quicksand"/>
              </a:rPr>
              <a:t>Existing System</a:t>
            </a:r>
          </a:p>
          <a:p>
            <a:pPr marL="647700" lvl="1" indent="-323850" algn="just">
              <a:lnSpc>
                <a:spcPts val="5100"/>
              </a:lnSpc>
              <a:buFont typeface="Arial"/>
              <a:buChar char="•"/>
            </a:pPr>
            <a:r>
              <a:rPr lang="en-US" sz="3000" b="1" dirty="0" smtClean="0">
                <a:solidFill>
                  <a:srgbClr val="0F4662"/>
                </a:solidFill>
                <a:latin typeface="Quicksand"/>
                <a:ea typeface="Quicksand"/>
                <a:cs typeface="Quicksand"/>
                <a:sym typeface="Quicksand"/>
              </a:rPr>
              <a:t>Existing Algorithm</a:t>
            </a:r>
          </a:p>
          <a:p>
            <a:pPr marL="647700" lvl="1" indent="-323850" algn="just">
              <a:lnSpc>
                <a:spcPts val="5100"/>
              </a:lnSpc>
              <a:buFont typeface="Arial"/>
              <a:buChar char="•"/>
            </a:pPr>
            <a:r>
              <a:rPr lang="en-US" sz="3000" b="1" dirty="0" smtClean="0">
                <a:solidFill>
                  <a:srgbClr val="0F4662"/>
                </a:solidFill>
                <a:latin typeface="Quicksand"/>
                <a:ea typeface="Quicksand"/>
                <a:cs typeface="Quicksand"/>
                <a:sym typeface="Quicksand"/>
              </a:rPr>
              <a:t>Disadvantages</a:t>
            </a:r>
          </a:p>
          <a:p>
            <a:pPr marL="647700" lvl="1" indent="-323850" algn="just">
              <a:lnSpc>
                <a:spcPts val="5100"/>
              </a:lnSpc>
              <a:buFont typeface="Arial"/>
              <a:buChar char="•"/>
            </a:pPr>
            <a:r>
              <a:rPr lang="en-US" sz="3000" b="1" dirty="0" smtClean="0">
                <a:solidFill>
                  <a:srgbClr val="0F4662"/>
                </a:solidFill>
                <a:latin typeface="Quicksand"/>
                <a:ea typeface="Quicksand"/>
                <a:cs typeface="Quicksand"/>
                <a:sym typeface="Quicksand"/>
              </a:rPr>
              <a:t>Proposed System</a:t>
            </a:r>
          </a:p>
          <a:p>
            <a:pPr marL="647700" lvl="1" indent="-323850" algn="just">
              <a:lnSpc>
                <a:spcPts val="5100"/>
              </a:lnSpc>
              <a:buFont typeface="Arial"/>
              <a:buChar char="•"/>
            </a:pPr>
            <a:r>
              <a:rPr lang="en-US" sz="3000" b="1" dirty="0" smtClean="0">
                <a:solidFill>
                  <a:srgbClr val="0F4662"/>
                </a:solidFill>
                <a:latin typeface="Quicksand"/>
                <a:ea typeface="Quicksand"/>
                <a:cs typeface="Quicksand"/>
                <a:sym typeface="Quicksand"/>
              </a:rPr>
              <a:t>Advantages</a:t>
            </a:r>
            <a:endParaRPr lang="en-US" sz="3000" b="1" dirty="0">
              <a:solidFill>
                <a:srgbClr val="0F4662"/>
              </a:solidFill>
              <a:latin typeface="Quicksand"/>
              <a:ea typeface="Quicksand"/>
              <a:cs typeface="Quicksand"/>
              <a:sym typeface="Quicksand"/>
            </a:endParaRPr>
          </a:p>
        </p:txBody>
      </p:sp>
      <p:sp>
        <p:nvSpPr>
          <p:cNvPr id="8" name="TextBox 7"/>
          <p:cNvSpPr txBox="1"/>
          <p:nvPr/>
        </p:nvSpPr>
        <p:spPr>
          <a:xfrm>
            <a:off x="9067800" y="3009900"/>
            <a:ext cx="7162800" cy="4578176"/>
          </a:xfrm>
          <a:prstGeom prst="rect">
            <a:avLst/>
          </a:prstGeom>
        </p:spPr>
        <p:txBody>
          <a:bodyPr wrap="square" lIns="0" tIns="0" rIns="0" bIns="0" rtlCol="0" anchor="t">
            <a:spAutoFit/>
          </a:bodyPr>
          <a:lstStyle/>
          <a:p>
            <a:pPr marL="647700" lvl="1" indent="-323850" algn="just">
              <a:lnSpc>
                <a:spcPts val="5100"/>
              </a:lnSpc>
              <a:buFont typeface="Arial"/>
              <a:buChar char="•"/>
            </a:pPr>
            <a:r>
              <a:rPr lang="en-US" sz="3000" b="1" dirty="0" smtClean="0">
                <a:solidFill>
                  <a:srgbClr val="0F4662"/>
                </a:solidFill>
                <a:latin typeface="Quicksand"/>
                <a:ea typeface="Quicksand"/>
                <a:cs typeface="Quicksand"/>
                <a:sym typeface="Quicksand"/>
              </a:rPr>
              <a:t>Software Requirement</a:t>
            </a:r>
          </a:p>
          <a:p>
            <a:pPr marL="647700" lvl="1" indent="-323850" algn="just">
              <a:lnSpc>
                <a:spcPts val="5100"/>
              </a:lnSpc>
              <a:buFont typeface="Arial"/>
              <a:buChar char="•"/>
            </a:pPr>
            <a:r>
              <a:rPr lang="en-US" sz="3000" b="1" dirty="0" smtClean="0">
                <a:solidFill>
                  <a:srgbClr val="0F4662"/>
                </a:solidFill>
                <a:latin typeface="Quicksand"/>
                <a:ea typeface="Quicksand"/>
                <a:cs typeface="Quicksand"/>
                <a:sym typeface="Quicksand"/>
              </a:rPr>
              <a:t>System Architecture</a:t>
            </a:r>
          </a:p>
          <a:p>
            <a:pPr marL="647700" lvl="1" indent="-323850" algn="just">
              <a:lnSpc>
                <a:spcPts val="5100"/>
              </a:lnSpc>
              <a:buFont typeface="Arial"/>
              <a:buChar char="•"/>
            </a:pPr>
            <a:r>
              <a:rPr lang="en-US" sz="3000" b="1" dirty="0" smtClean="0">
                <a:solidFill>
                  <a:srgbClr val="0F4662"/>
                </a:solidFill>
                <a:latin typeface="Quicksand"/>
                <a:ea typeface="Quicksand"/>
                <a:cs typeface="Quicksand"/>
                <a:sym typeface="Quicksand"/>
              </a:rPr>
              <a:t>Modules</a:t>
            </a:r>
          </a:p>
          <a:p>
            <a:pPr marL="647700" lvl="1" indent="-323850" algn="just">
              <a:lnSpc>
                <a:spcPts val="5100"/>
              </a:lnSpc>
              <a:buFont typeface="Arial"/>
              <a:buChar char="•"/>
            </a:pPr>
            <a:r>
              <a:rPr lang="en-US" sz="3000" b="1" dirty="0" smtClean="0">
                <a:solidFill>
                  <a:srgbClr val="0F4662"/>
                </a:solidFill>
                <a:latin typeface="Quicksand"/>
                <a:ea typeface="Quicksand"/>
                <a:cs typeface="Quicksand"/>
                <a:sym typeface="Quicksand"/>
              </a:rPr>
              <a:t>C:onclusion</a:t>
            </a:r>
          </a:p>
          <a:p>
            <a:pPr marL="647700" lvl="1" indent="-323850" algn="just">
              <a:lnSpc>
                <a:spcPts val="5100"/>
              </a:lnSpc>
              <a:buFont typeface="Arial"/>
              <a:buChar char="•"/>
            </a:pPr>
            <a:r>
              <a:rPr lang="en-US" sz="3000" b="1" dirty="0" smtClean="0">
                <a:solidFill>
                  <a:srgbClr val="0F4662"/>
                </a:solidFill>
                <a:latin typeface="Quicksand"/>
                <a:ea typeface="Quicksand"/>
                <a:cs typeface="Quicksand"/>
                <a:sym typeface="Quicksand"/>
              </a:rPr>
              <a:t>Future Scope</a:t>
            </a:r>
          </a:p>
          <a:p>
            <a:pPr marL="647700" lvl="1" indent="-323850" algn="just">
              <a:lnSpc>
                <a:spcPts val="5100"/>
              </a:lnSpc>
              <a:buFont typeface="Arial"/>
              <a:buChar char="•"/>
            </a:pPr>
            <a:r>
              <a:rPr lang="en-US" sz="3000" b="1" dirty="0" smtClean="0">
                <a:solidFill>
                  <a:srgbClr val="0F4662"/>
                </a:solidFill>
                <a:latin typeface="Quicksand"/>
                <a:ea typeface="Quicksand"/>
                <a:cs typeface="Quicksand"/>
                <a:sym typeface="Quicksand"/>
              </a:rPr>
              <a:t>References</a:t>
            </a:r>
            <a:endParaRPr lang="en-US" sz="3000" b="1" dirty="0" smtClean="0">
              <a:solidFill>
                <a:srgbClr val="0F4662"/>
              </a:solidFill>
              <a:latin typeface="Quicksand"/>
              <a:ea typeface="Quicksand"/>
              <a:cs typeface="Quicksand"/>
              <a:sym typeface="Quicksand"/>
            </a:endParaRPr>
          </a:p>
          <a:p>
            <a:pPr marL="647700" lvl="1" indent="-323850" algn="just">
              <a:lnSpc>
                <a:spcPts val="5100"/>
              </a:lnSpc>
              <a:buFont typeface="Arial"/>
              <a:buChar char="•"/>
            </a:pPr>
            <a:endParaRPr lang="en-US" sz="3000" dirty="0">
              <a:solidFill>
                <a:srgbClr val="0F4662"/>
              </a:solidFill>
              <a:latin typeface="Quicksand"/>
              <a:ea typeface="Quicksand"/>
              <a:cs typeface="Quicksand"/>
              <a:sym typeface="Quicksan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14093893" y="15849"/>
            <a:ext cx="4194107" cy="10271151"/>
            <a:chOff x="0" y="0"/>
            <a:chExt cx="1104621" cy="2705159"/>
          </a:xfrm>
        </p:grpSpPr>
        <p:sp>
          <p:nvSpPr>
            <p:cNvPr id="3" name="Freeform 3"/>
            <p:cNvSpPr/>
            <p:nvPr/>
          </p:nvSpPr>
          <p:spPr>
            <a:xfrm>
              <a:off x="0" y="0"/>
              <a:ext cx="1104621" cy="2705159"/>
            </a:xfrm>
            <a:custGeom>
              <a:avLst/>
              <a:gdLst/>
              <a:ahLst/>
              <a:cxnLst/>
              <a:rect l="l" t="t" r="r" b="b"/>
              <a:pathLst>
                <a:path w="1104621" h="2705159">
                  <a:moveTo>
                    <a:pt x="0" y="0"/>
                  </a:moveTo>
                  <a:lnTo>
                    <a:pt x="1104621" y="0"/>
                  </a:lnTo>
                  <a:lnTo>
                    <a:pt x="1104621" y="2705159"/>
                  </a:lnTo>
                  <a:lnTo>
                    <a:pt x="0" y="2705159"/>
                  </a:lnTo>
                  <a:close/>
                </a:path>
              </a:pathLst>
            </a:custGeom>
            <a:solidFill>
              <a:srgbClr val="7994A0"/>
            </a:solidFill>
          </p:spPr>
        </p:sp>
        <p:sp>
          <p:nvSpPr>
            <p:cNvPr id="4" name="TextBox 4"/>
            <p:cNvSpPr txBox="1"/>
            <p:nvPr/>
          </p:nvSpPr>
          <p:spPr>
            <a:xfrm>
              <a:off x="0" y="-47625"/>
              <a:ext cx="1104621" cy="2752784"/>
            </a:xfrm>
            <a:prstGeom prst="rect">
              <a:avLst/>
            </a:prstGeom>
          </p:spPr>
          <p:txBody>
            <a:bodyPr lIns="50800" tIns="50800" rIns="50800" bIns="50800" rtlCol="0" anchor="ctr"/>
            <a:lstStyle/>
            <a:p>
              <a:pPr algn="ctr">
                <a:lnSpc>
                  <a:spcPts val="3693"/>
                </a:lnSpc>
              </a:pPr>
              <a:endParaRPr/>
            </a:p>
          </p:txBody>
        </p:sp>
      </p:grpSp>
      <p:sp>
        <p:nvSpPr>
          <p:cNvPr id="7" name="Freeform 7"/>
          <p:cNvSpPr/>
          <p:nvPr/>
        </p:nvSpPr>
        <p:spPr>
          <a:xfrm>
            <a:off x="1028700" y="8974931"/>
            <a:ext cx="1905000" cy="283369"/>
          </a:xfrm>
          <a:custGeom>
            <a:avLst/>
            <a:gdLst/>
            <a:ahLst/>
            <a:cxnLst/>
            <a:rect l="l" t="t" r="r" b="b"/>
            <a:pathLst>
              <a:path w="1905000" h="283369">
                <a:moveTo>
                  <a:pt x="0" y="0"/>
                </a:moveTo>
                <a:lnTo>
                  <a:pt x="1905000" y="0"/>
                </a:lnTo>
                <a:lnTo>
                  <a:pt x="1905000" y="283369"/>
                </a:lnTo>
                <a:lnTo>
                  <a:pt x="0" y="283369"/>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8" name="TextBox 8"/>
          <p:cNvSpPr txBox="1"/>
          <p:nvPr/>
        </p:nvSpPr>
        <p:spPr>
          <a:xfrm>
            <a:off x="1028700" y="599709"/>
            <a:ext cx="9390243" cy="1099019"/>
          </a:xfrm>
          <a:prstGeom prst="rect">
            <a:avLst/>
          </a:prstGeom>
        </p:spPr>
        <p:txBody>
          <a:bodyPr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ABSTRACT</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9" name="TextBox 9"/>
          <p:cNvSpPr txBox="1"/>
          <p:nvPr/>
        </p:nvSpPr>
        <p:spPr>
          <a:xfrm>
            <a:off x="533400" y="1943100"/>
            <a:ext cx="10058400" cy="6206827"/>
          </a:xfrm>
          <a:prstGeom prst="rect">
            <a:avLst/>
          </a:prstGeom>
        </p:spPr>
        <p:txBody>
          <a:bodyPr wrap="square" lIns="0" tIns="0" rIns="0" bIns="0" rtlCol="0" anchor="t">
            <a:spAutoFit/>
          </a:bodyPr>
          <a:lstStyle/>
          <a:p>
            <a:pPr algn="just">
              <a:lnSpc>
                <a:spcPts val="4419"/>
              </a:lnSpc>
              <a:spcBef>
                <a:spcPct val="0"/>
              </a:spcBef>
            </a:pPr>
            <a:r>
              <a:rPr lang="en-US" sz="3200" dirty="0">
                <a:solidFill>
                  <a:srgbClr val="0F4662"/>
                </a:solidFill>
                <a:latin typeface="Quicksand"/>
                <a:ea typeface="Quicksand"/>
                <a:cs typeface="Quicksand"/>
                <a:sym typeface="Quicksand"/>
              </a:rPr>
              <a:t>This project aims to create an AI-powered system to bridge the communication gap between hearing and speech-impaired individuals and hearing individuals in virtual meetings. The system features a Sign Recognition Module (SRM) for sign language interpretation, a Speech Recognition and Synthesis Module (SRSM) for text conversion, and an Avatar Module (AM) for visually translating speech into sign language. This system enhances inclusivity and enables seamless, real-time communication for diverse users.</a:t>
            </a:r>
          </a:p>
        </p:txBody>
      </p:sp>
      <p:pic>
        <p:nvPicPr>
          <p:cNvPr id="11" name="Picture 10">
            <a:extLst>
              <a:ext uri="{FF2B5EF4-FFF2-40B4-BE49-F238E27FC236}">
                <a16:creationId xmlns:a16="http://schemas.microsoft.com/office/drawing/2014/main" xmlns="" id="{4BEF88DB-5006-86AA-950C-5A34AA04184F}"/>
              </a:ext>
            </a:extLst>
          </p:cNvP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10996800" y="2070104"/>
            <a:ext cx="6194185" cy="6904827"/>
          </a:xfrm>
          <a:prstGeom prst="rect">
            <a:avLst/>
          </a:prstGeom>
          <a:noFill/>
          <a:ln>
            <a:solidFill>
              <a:schemeClr val="tx1"/>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flipV="1">
            <a:off x="1609370" y="9229725"/>
            <a:ext cx="4716390" cy="0"/>
          </a:xfrm>
          <a:prstGeom prst="line">
            <a:avLst/>
          </a:prstGeom>
          <a:ln w="57150" cap="flat">
            <a:solidFill>
              <a:srgbClr val="7994A0"/>
            </a:solidFill>
            <a:prstDash val="solid"/>
            <a:headEnd type="none" w="sm" len="sm"/>
            <a:tailEnd type="none" w="sm" len="sm"/>
          </a:ln>
        </p:spPr>
      </p:sp>
      <p:sp>
        <p:nvSpPr>
          <p:cNvPr id="3" name="TextBox 3"/>
          <p:cNvSpPr txBox="1"/>
          <p:nvPr/>
        </p:nvSpPr>
        <p:spPr>
          <a:xfrm>
            <a:off x="1024384" y="636538"/>
            <a:ext cx="5757416" cy="1154162"/>
          </a:xfrm>
          <a:prstGeom prst="rect">
            <a:avLst/>
          </a:prstGeom>
        </p:spPr>
        <p:txBody>
          <a:bodyPr wrap="square"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INTRODUCTION</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4" name="Freeform 4"/>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5" name="Freeform 5"/>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6" name="TextBox 6"/>
          <p:cNvSpPr txBox="1"/>
          <p:nvPr/>
        </p:nvSpPr>
        <p:spPr>
          <a:xfrm>
            <a:off x="1028700" y="2102151"/>
            <a:ext cx="16230600" cy="6438900"/>
          </a:xfrm>
          <a:prstGeom prst="rect">
            <a:avLst/>
          </a:prstGeom>
        </p:spPr>
        <p:txBody>
          <a:bodyPr lIns="0" tIns="0" rIns="0" bIns="0" rtlCol="0" anchor="t">
            <a:spAutoFit/>
          </a:bodyPr>
          <a:lstStyle/>
          <a:p>
            <a:pPr marL="647700" lvl="1" indent="-323850" algn="just">
              <a:lnSpc>
                <a:spcPts val="5100"/>
              </a:lnSpc>
              <a:buFont typeface="Arial"/>
              <a:buChar char="•"/>
            </a:pPr>
            <a:r>
              <a:rPr lang="en-US" sz="3000" dirty="0">
                <a:solidFill>
                  <a:srgbClr val="0F4662"/>
                </a:solidFill>
                <a:latin typeface="Quicksand"/>
                <a:ea typeface="Quicksand"/>
                <a:cs typeface="Quicksand"/>
                <a:sym typeface="Quicksand"/>
              </a:rPr>
              <a:t>Effective communication is essential for sharing information, ideas, and emotions, especially in diverse social settings.</a:t>
            </a:r>
          </a:p>
          <a:p>
            <a:pPr marL="647700" lvl="1" indent="-323850" algn="just">
              <a:lnSpc>
                <a:spcPts val="5100"/>
              </a:lnSpc>
              <a:buFont typeface="Arial"/>
              <a:buChar char="•"/>
            </a:pPr>
            <a:r>
              <a:rPr lang="en-US" sz="3000" dirty="0">
                <a:solidFill>
                  <a:srgbClr val="0F4662"/>
                </a:solidFill>
                <a:latin typeface="Quicksand"/>
                <a:ea typeface="Quicksand"/>
                <a:cs typeface="Quicksand"/>
                <a:sym typeface="Quicksand"/>
              </a:rPr>
              <a:t>Individuals with hearing and speech impairments face significant challenges in virtual and physical communication.</a:t>
            </a:r>
          </a:p>
          <a:p>
            <a:pPr marL="647700" lvl="1" indent="-323850" algn="just">
              <a:lnSpc>
                <a:spcPts val="5100"/>
              </a:lnSpc>
              <a:buFont typeface="Arial"/>
              <a:buChar char="•"/>
            </a:pPr>
            <a:r>
              <a:rPr lang="en-US" sz="3000" dirty="0">
                <a:solidFill>
                  <a:srgbClr val="0F4662"/>
                </a:solidFill>
                <a:latin typeface="Quicksand"/>
                <a:ea typeface="Quicksand"/>
                <a:cs typeface="Quicksand"/>
                <a:sym typeface="Quicksand"/>
              </a:rPr>
              <a:t>Existing sign language recognition technologies and virtual platforms often lack inclusivity and real-time functionality.</a:t>
            </a:r>
          </a:p>
          <a:p>
            <a:pPr marL="647700" lvl="1" indent="-323850" algn="just">
              <a:lnSpc>
                <a:spcPts val="5100"/>
              </a:lnSpc>
              <a:buFont typeface="Arial"/>
              <a:buChar char="•"/>
            </a:pPr>
            <a:r>
              <a:rPr lang="en-US" sz="3000" dirty="0">
                <a:solidFill>
                  <a:srgbClr val="0F4662"/>
                </a:solidFill>
                <a:latin typeface="Quicksand"/>
                <a:ea typeface="Quicksand"/>
                <a:cs typeface="Quicksand"/>
                <a:sym typeface="Quicksand"/>
              </a:rPr>
              <a:t>There is a growing need for advanced AI-driven solutions to bridge communication gaps in virtual environments.</a:t>
            </a:r>
          </a:p>
          <a:p>
            <a:pPr marL="647700" lvl="1" indent="-323850" algn="just">
              <a:lnSpc>
                <a:spcPts val="5100"/>
              </a:lnSpc>
              <a:buFont typeface="Arial"/>
              <a:buChar char="•"/>
            </a:pPr>
            <a:r>
              <a:rPr lang="en-US" sz="3000" dirty="0">
                <a:solidFill>
                  <a:srgbClr val="0F4662"/>
                </a:solidFill>
                <a:latin typeface="Quicksand"/>
                <a:ea typeface="Quicksand"/>
                <a:cs typeface="Quicksand"/>
                <a:sym typeface="Quicksand"/>
              </a:rPr>
              <a:t>This project aims to develop an inclusive system that integrates sign language recognition and avatar-based translation for seamless communication.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5897880" y="9500916"/>
            <a:ext cx="6492240" cy="0"/>
          </a:xfrm>
          <a:prstGeom prst="line">
            <a:avLst/>
          </a:prstGeom>
          <a:ln w="76200" cap="flat">
            <a:solidFill>
              <a:srgbClr val="0F4662"/>
            </a:solidFill>
            <a:prstDash val="solid"/>
            <a:headEnd type="none" w="sm" len="sm"/>
            <a:tailEnd type="none" w="sm" len="sm"/>
          </a:ln>
        </p:spPr>
      </p:sp>
      <p:sp>
        <p:nvSpPr>
          <p:cNvPr id="3" name="Freeform 3"/>
          <p:cNvSpPr/>
          <p:nvPr/>
        </p:nvSpPr>
        <p:spPr>
          <a:xfrm>
            <a:off x="8304001" y="464110"/>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8304001" y="9779623"/>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5" name="TextBox 5"/>
          <p:cNvSpPr txBox="1"/>
          <p:nvPr/>
        </p:nvSpPr>
        <p:spPr>
          <a:xfrm>
            <a:off x="1028700" y="599709"/>
            <a:ext cx="5391749" cy="1099019"/>
          </a:xfrm>
          <a:prstGeom prst="rect">
            <a:avLst/>
          </a:prstGeom>
        </p:spPr>
        <p:txBody>
          <a:bodyPr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OBJECTIVES</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7" name="TextBox 7"/>
          <p:cNvSpPr txBox="1"/>
          <p:nvPr/>
        </p:nvSpPr>
        <p:spPr>
          <a:xfrm>
            <a:off x="914400" y="2019300"/>
            <a:ext cx="10363200" cy="7386638"/>
          </a:xfrm>
          <a:prstGeom prst="rect">
            <a:avLst/>
          </a:prstGeom>
        </p:spPr>
        <p:txBody>
          <a:bodyPr wrap="square" lIns="0" tIns="0" rIns="0" bIns="0" rtlCol="0" anchor="t">
            <a:spAutoFit/>
          </a:bodyPr>
          <a:lstStyle/>
          <a:p>
            <a:pPr marL="518160" lvl="1" indent="-259080" algn="just">
              <a:lnSpc>
                <a:spcPct val="150000"/>
              </a:lnSpc>
              <a:buFont typeface="Arial"/>
              <a:buChar char="•"/>
            </a:pPr>
            <a:r>
              <a:rPr lang="en-US" sz="3200" dirty="0" smtClean="0">
                <a:solidFill>
                  <a:srgbClr val="0F4662"/>
                </a:solidFill>
                <a:latin typeface="Quicksand"/>
                <a:ea typeface="Quicksand"/>
                <a:cs typeface="Quicksand"/>
                <a:sym typeface="Quicksand"/>
              </a:rPr>
              <a:t>To </a:t>
            </a:r>
            <a:r>
              <a:rPr lang="en-US" sz="3200" dirty="0">
                <a:solidFill>
                  <a:srgbClr val="0F4662"/>
                </a:solidFill>
                <a:latin typeface="Quicksand"/>
                <a:ea typeface="Quicksand"/>
                <a:cs typeface="Quicksand"/>
                <a:sym typeface="Quicksand"/>
              </a:rPr>
              <a:t>develop and build the deaf companion System.</a:t>
            </a:r>
          </a:p>
          <a:p>
            <a:pPr marL="518160" lvl="1" indent="-259080" algn="just">
              <a:lnSpc>
                <a:spcPct val="150000"/>
              </a:lnSpc>
              <a:buFont typeface="Arial"/>
              <a:buChar char="•"/>
            </a:pPr>
            <a:r>
              <a:rPr lang="en-US" sz="3200" dirty="0">
                <a:solidFill>
                  <a:srgbClr val="0F4662"/>
                </a:solidFill>
                <a:latin typeface="Quicksand"/>
                <a:ea typeface="Quicksand"/>
                <a:cs typeface="Quicksand"/>
                <a:sym typeface="Quicksand"/>
              </a:rPr>
              <a:t>To enable two-way communication between deaf and normal people.</a:t>
            </a:r>
          </a:p>
          <a:p>
            <a:pPr marL="518160" lvl="1" indent="-259080" algn="just">
              <a:lnSpc>
                <a:spcPct val="150000"/>
              </a:lnSpc>
              <a:buFont typeface="Arial"/>
              <a:buChar char="•"/>
            </a:pPr>
            <a:r>
              <a:rPr lang="en-US" sz="3200" dirty="0">
                <a:solidFill>
                  <a:srgbClr val="0F4662"/>
                </a:solidFill>
                <a:latin typeface="Quicksand"/>
                <a:ea typeface="Quicksand"/>
                <a:cs typeface="Quicksand"/>
                <a:sym typeface="Quicksand"/>
              </a:rPr>
              <a:t>To design and develop a high-performance sign recognition module.</a:t>
            </a:r>
          </a:p>
          <a:p>
            <a:pPr marL="518160" lvl="1" indent="-259080" algn="just">
              <a:lnSpc>
                <a:spcPct val="150000"/>
              </a:lnSpc>
              <a:buFont typeface="Arial"/>
              <a:buChar char="•"/>
            </a:pPr>
            <a:r>
              <a:rPr lang="en-US" sz="3200" dirty="0">
                <a:solidFill>
                  <a:srgbClr val="0F4662"/>
                </a:solidFill>
                <a:latin typeface="Quicksand"/>
                <a:ea typeface="Quicksand"/>
                <a:cs typeface="Quicksand"/>
                <a:sym typeface="Quicksand"/>
              </a:rPr>
              <a:t>To generate high-quality speech from the text.</a:t>
            </a:r>
          </a:p>
          <a:p>
            <a:pPr marL="518160" lvl="1" indent="-259080" algn="just">
              <a:lnSpc>
                <a:spcPct val="150000"/>
              </a:lnSpc>
              <a:buFont typeface="Arial"/>
              <a:buChar char="•"/>
            </a:pPr>
            <a:r>
              <a:rPr lang="en-US" sz="3200" dirty="0">
                <a:solidFill>
                  <a:srgbClr val="0F4662"/>
                </a:solidFill>
                <a:latin typeface="Quicksand"/>
                <a:ea typeface="Quicksand"/>
                <a:cs typeface="Quicksand"/>
                <a:sym typeface="Quicksand"/>
              </a:rPr>
              <a:t>To transform the text from a normal individual into SL through an Avatar.</a:t>
            </a:r>
          </a:p>
          <a:p>
            <a:pPr marL="518160" lvl="1" indent="-259080" algn="just">
              <a:lnSpc>
                <a:spcPct val="150000"/>
              </a:lnSpc>
              <a:buFont typeface="Arial"/>
              <a:buChar char="•"/>
            </a:pPr>
            <a:r>
              <a:rPr lang="en-US" sz="3200" dirty="0">
                <a:solidFill>
                  <a:srgbClr val="0F4662"/>
                </a:solidFill>
                <a:latin typeface="Quicksand"/>
                <a:ea typeface="Quicksand"/>
                <a:cs typeface="Quicksand"/>
                <a:sym typeface="Quicksand"/>
              </a:rPr>
              <a:t>To integrate the system into virtual platforms for seamless communication.</a:t>
            </a:r>
          </a:p>
        </p:txBody>
      </p:sp>
      <p:grpSp>
        <p:nvGrpSpPr>
          <p:cNvPr id="9" name="Group 2"/>
          <p:cNvGrpSpPr/>
          <p:nvPr/>
        </p:nvGrpSpPr>
        <p:grpSpPr>
          <a:xfrm>
            <a:off x="14706600" y="-180826"/>
            <a:ext cx="4194107" cy="10451977"/>
            <a:chOff x="0" y="-47625"/>
            <a:chExt cx="1104621" cy="2752784"/>
          </a:xfrm>
        </p:grpSpPr>
        <p:sp>
          <p:nvSpPr>
            <p:cNvPr id="10" name="Freeform 3"/>
            <p:cNvSpPr/>
            <p:nvPr/>
          </p:nvSpPr>
          <p:spPr>
            <a:xfrm>
              <a:off x="0" y="0"/>
              <a:ext cx="943249" cy="2705159"/>
            </a:xfrm>
            <a:custGeom>
              <a:avLst/>
              <a:gdLst/>
              <a:ahLst/>
              <a:cxnLst/>
              <a:rect l="l" t="t" r="r" b="b"/>
              <a:pathLst>
                <a:path w="1104621" h="2705159">
                  <a:moveTo>
                    <a:pt x="0" y="0"/>
                  </a:moveTo>
                  <a:lnTo>
                    <a:pt x="1104621" y="0"/>
                  </a:lnTo>
                  <a:lnTo>
                    <a:pt x="1104621" y="2705159"/>
                  </a:lnTo>
                  <a:lnTo>
                    <a:pt x="0" y="2705159"/>
                  </a:lnTo>
                  <a:close/>
                </a:path>
              </a:pathLst>
            </a:custGeom>
            <a:solidFill>
              <a:srgbClr val="7994A0"/>
            </a:solidFill>
          </p:spPr>
        </p:sp>
        <p:sp>
          <p:nvSpPr>
            <p:cNvPr id="11" name="TextBox 4"/>
            <p:cNvSpPr txBox="1"/>
            <p:nvPr/>
          </p:nvSpPr>
          <p:spPr>
            <a:xfrm>
              <a:off x="0" y="-47625"/>
              <a:ext cx="1104621" cy="2752784"/>
            </a:xfrm>
            <a:prstGeom prst="rect">
              <a:avLst/>
            </a:prstGeom>
          </p:spPr>
          <p:txBody>
            <a:bodyPr lIns="50800" tIns="50800" rIns="50800" bIns="50800" rtlCol="0" anchor="ctr"/>
            <a:lstStyle/>
            <a:p>
              <a:pPr algn="ctr">
                <a:lnSpc>
                  <a:spcPts val="3693"/>
                </a:lnSpc>
              </a:pPr>
              <a:endParaRPr/>
            </a:p>
          </p:txBody>
        </p:sp>
      </p:grpSp>
      <p:pic>
        <p:nvPicPr>
          <p:cNvPr id="37890" name="Picture 2" descr="Video call screen with user avatar and enhanced video chat interface. |  Premium Vector"/>
          <p:cNvPicPr>
            <a:picLocks noChangeAspect="1" noChangeArrowheads="1"/>
          </p:cNvPicPr>
          <p:nvPr/>
        </p:nvPicPr>
        <p:blipFill>
          <a:blip r:embed="rId4" cstate="print"/>
          <a:srcRect/>
          <a:stretch>
            <a:fillRect/>
          </a:stretch>
        </p:blipFill>
        <p:spPr bwMode="auto">
          <a:xfrm>
            <a:off x="11734800" y="2019300"/>
            <a:ext cx="5962650" cy="5962650"/>
          </a:xfrm>
          <a:prstGeom prst="rect">
            <a:avLst/>
          </a:prstGeom>
          <a:noFill/>
          <a:ln>
            <a:solidFill>
              <a:schemeClr val="tx1"/>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10767060" y="990600"/>
            <a:ext cx="6492240" cy="0"/>
          </a:xfrm>
          <a:prstGeom prst="line">
            <a:avLst/>
          </a:prstGeom>
          <a:ln w="76200" cap="flat">
            <a:solidFill>
              <a:srgbClr val="0F4662"/>
            </a:solidFill>
            <a:prstDash val="solid"/>
            <a:headEnd type="none" w="sm" len="sm"/>
            <a:tailEnd type="none" w="sm" len="sm"/>
          </a:ln>
        </p:spPr>
      </p:sp>
      <p:graphicFrame>
        <p:nvGraphicFramePr>
          <p:cNvPr id="3" name="Table 3"/>
          <p:cNvGraphicFramePr>
            <a:graphicFrameLocks noGrp="1"/>
          </p:cNvGraphicFramePr>
          <p:nvPr/>
        </p:nvGraphicFramePr>
        <p:xfrm>
          <a:off x="1295400" y="1562100"/>
          <a:ext cx="15553595" cy="8347710"/>
        </p:xfrm>
        <a:graphic>
          <a:graphicData uri="http://schemas.openxmlformats.org/drawingml/2006/table">
            <a:tbl>
              <a:tblPr/>
              <a:tblGrid>
                <a:gridCol w="1063274">
                  <a:extLst>
                    <a:ext uri="{9D8B030D-6E8A-4147-A177-3AD203B41FA5}">
                      <a16:colId xmlns:a16="http://schemas.microsoft.com/office/drawing/2014/main" xmlns="" val="20000"/>
                    </a:ext>
                  </a:extLst>
                </a:gridCol>
                <a:gridCol w="5949222">
                  <a:extLst>
                    <a:ext uri="{9D8B030D-6E8A-4147-A177-3AD203B41FA5}">
                      <a16:colId xmlns:a16="http://schemas.microsoft.com/office/drawing/2014/main" xmlns="" val="20001"/>
                    </a:ext>
                  </a:extLst>
                </a:gridCol>
                <a:gridCol w="3506248">
                  <a:extLst>
                    <a:ext uri="{9D8B030D-6E8A-4147-A177-3AD203B41FA5}">
                      <a16:colId xmlns:a16="http://schemas.microsoft.com/office/drawing/2014/main" xmlns="" val="20002"/>
                    </a:ext>
                  </a:extLst>
                </a:gridCol>
                <a:gridCol w="3506248">
                  <a:extLst>
                    <a:ext uri="{9D8B030D-6E8A-4147-A177-3AD203B41FA5}">
                      <a16:colId xmlns:a16="http://schemas.microsoft.com/office/drawing/2014/main" xmlns="" val="20003"/>
                    </a:ext>
                  </a:extLst>
                </a:gridCol>
                <a:gridCol w="1528603">
                  <a:extLst>
                    <a:ext uri="{9D8B030D-6E8A-4147-A177-3AD203B41FA5}">
                      <a16:colId xmlns:a16="http://schemas.microsoft.com/office/drawing/2014/main" xmlns="" val="20004"/>
                    </a:ext>
                  </a:extLst>
                </a:gridCol>
              </a:tblGrid>
              <a:tr h="1122046">
                <a:tc>
                  <a:txBody>
                    <a:bodyPr/>
                    <a:lstStyle/>
                    <a:p>
                      <a:pPr marL="0" lvl="0" indent="0" algn="ctr">
                        <a:lnSpc>
                          <a:spcPts val="2659"/>
                        </a:lnSpc>
                        <a:spcBef>
                          <a:spcPct val="0"/>
                        </a:spcBef>
                        <a:defRPr/>
                      </a:pPr>
                      <a:endParaRPr lang="en-US" sz="1100" dirty="0"/>
                    </a:p>
                    <a:p>
                      <a:pPr marL="0" lvl="0" indent="0" algn="ctr">
                        <a:lnSpc>
                          <a:spcPts val="2659"/>
                        </a:lnSpc>
                        <a:spcBef>
                          <a:spcPct val="0"/>
                        </a:spcBef>
                      </a:pPr>
                      <a:r>
                        <a:rPr lang="en-US" sz="1899" u="none" strike="noStrike" dirty="0">
                          <a:solidFill>
                            <a:srgbClr val="000000"/>
                          </a:solidFill>
                          <a:latin typeface="Cormorant Garamond"/>
                          <a:ea typeface="Cormorant Garamond"/>
                          <a:cs typeface="Cormorant Garamond"/>
                          <a:sym typeface="Cormorant Garamond"/>
                        </a:rPr>
                        <a:t>  No</a:t>
                      </a:r>
                    </a:p>
                    <a:p>
                      <a:pPr marL="0" lvl="0" indent="0" algn="ctr">
                        <a:lnSpc>
                          <a:spcPts val="2659"/>
                        </a:lnSpc>
                        <a:spcBef>
                          <a:spcPct val="0"/>
                        </a:spcBef>
                      </a:pPr>
                      <a:r>
                        <a:rPr lang="en-US" sz="1899" u="none" strike="noStrike" dirty="0">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dirty="0"/>
                    </a:p>
                    <a:p>
                      <a:pPr marL="0" lvl="0" indent="0" algn="ctr">
                        <a:lnSpc>
                          <a:spcPts val="2659"/>
                        </a:lnSpc>
                        <a:spcBef>
                          <a:spcPct val="0"/>
                        </a:spcBef>
                      </a:pPr>
                      <a:r>
                        <a:rPr lang="en-US" sz="1899" u="none" strike="noStrike" dirty="0">
                          <a:solidFill>
                            <a:srgbClr val="000000"/>
                          </a:solidFill>
                          <a:latin typeface="Cormorant Garamond"/>
                          <a:ea typeface="Cormorant Garamond"/>
                          <a:cs typeface="Cormorant Garamond"/>
                          <a:sym typeface="Cormorant Garamond"/>
                        </a:rPr>
                        <a:t>  Paper Info</a:t>
                      </a:r>
                    </a:p>
                    <a:p>
                      <a:pPr marL="0" lvl="0" indent="0" algn="ctr">
                        <a:lnSpc>
                          <a:spcPts val="2659"/>
                        </a:lnSpc>
                        <a:spcBef>
                          <a:spcPct val="0"/>
                        </a:spcBef>
                      </a:pPr>
                      <a:r>
                        <a:rPr lang="en-US" sz="1899" u="none" strike="noStrike" dirty="0">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Objective</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Author</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Year</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extLst>
                  <a:ext uri="{0D108BD9-81ED-4DB2-BD59-A6C34878D82A}">
                    <a16:rowId xmlns:a16="http://schemas.microsoft.com/office/drawing/2014/main" xmlns="" val="10000"/>
                  </a:ext>
                </a:extLst>
              </a:tr>
              <a:tr h="2427635">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1</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Title: Continuous Sign Language Recognition With Multi-Scale Spatial-Temporal Feature Enhancement </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To improve real-time sign language recognition accuracy by using spatial temporal feature extraction techniques.</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Zhen Wang;</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Dongyuan Li;</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Manabu Okumura</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2025</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extLst>
                  <a:ext uri="{0D108BD9-81ED-4DB2-BD59-A6C34878D82A}">
                    <a16:rowId xmlns:a16="http://schemas.microsoft.com/office/drawing/2014/main" xmlns="" val="10001"/>
                  </a:ext>
                </a:extLst>
              </a:tr>
              <a:tr h="2427635">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2</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Title: A Holistic Approach to Enhance Learning Experiences for People With Hearing Disabilities in Online and  Traditional Classroom Settings</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To enhance learning accessibility for people with</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hearing disabilities in hybrid and online education</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Mario Perez-Enriquez;</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Jose Luis Lopez-Cuadrado;</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Israel Gonzalez-Carrasco</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2024</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extLst>
                  <a:ext uri="{0D108BD9-81ED-4DB2-BD59-A6C34878D82A}">
                    <a16:rowId xmlns:a16="http://schemas.microsoft.com/office/drawing/2014/main" xmlns="" val="10002"/>
                  </a:ext>
                </a:extLst>
              </a:tr>
              <a:tr h="1805891">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3</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dirty="0"/>
                    </a:p>
                    <a:p>
                      <a:pPr marL="0" lvl="0" indent="0" algn="ctr">
                        <a:lnSpc>
                          <a:spcPts val="2659"/>
                        </a:lnSpc>
                        <a:spcBef>
                          <a:spcPct val="0"/>
                        </a:spcBef>
                      </a:pPr>
                      <a:r>
                        <a:rPr lang="en-US" sz="1899" u="none" strike="noStrike" dirty="0">
                          <a:solidFill>
                            <a:srgbClr val="000000"/>
                          </a:solidFill>
                          <a:latin typeface="Cormorant Garamond"/>
                          <a:ea typeface="Cormorant Garamond"/>
                          <a:cs typeface="Cormorant Garamond"/>
                          <a:sym typeface="Cormorant Garamond"/>
                        </a:rPr>
                        <a:t>  Title: Hand and Pose-Based Feature Selection for Zero-Shot Sign Language Recognition.</a:t>
                      </a:r>
                    </a:p>
                    <a:p>
                      <a:pPr marL="0" lvl="0" indent="0" algn="ctr">
                        <a:lnSpc>
                          <a:spcPts val="2659"/>
                        </a:lnSpc>
                        <a:spcBef>
                          <a:spcPct val="0"/>
                        </a:spcBef>
                      </a:pPr>
                      <a:r>
                        <a:rPr lang="en-US" sz="1899" u="none" strike="noStrike" dirty="0">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To perform Zero-Shot Sign Language Recognition (ZSSLR) using hand, pose, and body data.</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Giray Sercan Özcan; Yunus Can Bilge</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dirty="0"/>
                    </a:p>
                    <a:p>
                      <a:pPr marL="0" lvl="0" indent="0" algn="ctr">
                        <a:lnSpc>
                          <a:spcPts val="2659"/>
                        </a:lnSpc>
                        <a:spcBef>
                          <a:spcPct val="0"/>
                        </a:spcBef>
                      </a:pPr>
                      <a:r>
                        <a:rPr lang="en-US" sz="1899" u="none" strike="noStrike" dirty="0">
                          <a:solidFill>
                            <a:srgbClr val="000000"/>
                          </a:solidFill>
                          <a:latin typeface="Cormorant Garamond"/>
                          <a:ea typeface="Cormorant Garamond"/>
                          <a:cs typeface="Cormorant Garamond"/>
                          <a:sym typeface="Cormorant Garamond"/>
                        </a:rPr>
                        <a:t>  2024</a:t>
                      </a:r>
                    </a:p>
                    <a:p>
                      <a:pPr marL="0" lvl="0" indent="0" algn="ctr">
                        <a:lnSpc>
                          <a:spcPts val="2659"/>
                        </a:lnSpc>
                        <a:spcBef>
                          <a:spcPct val="0"/>
                        </a:spcBef>
                      </a:pPr>
                      <a:r>
                        <a:rPr lang="en-US" sz="1899" u="none" strike="noStrike" dirty="0">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extLst>
                  <a:ext uri="{0D108BD9-81ED-4DB2-BD59-A6C34878D82A}">
                    <a16:rowId xmlns:a16="http://schemas.microsoft.com/office/drawing/2014/main" xmlns="" val="10003"/>
                  </a:ext>
                </a:extLst>
              </a:tr>
            </a:tbl>
          </a:graphicData>
        </a:graphic>
      </p:graphicFrame>
      <p:sp>
        <p:nvSpPr>
          <p:cNvPr id="4" name="TextBox 4"/>
          <p:cNvSpPr txBox="1"/>
          <p:nvPr/>
        </p:nvSpPr>
        <p:spPr>
          <a:xfrm>
            <a:off x="1028700" y="390842"/>
            <a:ext cx="8115300" cy="1099019"/>
          </a:xfrm>
          <a:prstGeom prst="rect">
            <a:avLst/>
          </a:prstGeom>
        </p:spPr>
        <p:txBody>
          <a:bodyPr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LITERATURE SURVEY</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124144" y="1123950"/>
          <a:ext cx="16039711" cy="8039769"/>
        </p:xfrm>
        <a:graphic>
          <a:graphicData uri="http://schemas.openxmlformats.org/drawingml/2006/table">
            <a:tbl>
              <a:tblPr/>
              <a:tblGrid>
                <a:gridCol w="1693618">
                  <a:extLst>
                    <a:ext uri="{9D8B030D-6E8A-4147-A177-3AD203B41FA5}">
                      <a16:colId xmlns:a16="http://schemas.microsoft.com/office/drawing/2014/main" xmlns="" val="20000"/>
                    </a:ext>
                  </a:extLst>
                </a:gridCol>
                <a:gridCol w="5206850">
                  <a:extLst>
                    <a:ext uri="{9D8B030D-6E8A-4147-A177-3AD203B41FA5}">
                      <a16:colId xmlns:a16="http://schemas.microsoft.com/office/drawing/2014/main" xmlns="" val="20001"/>
                    </a:ext>
                  </a:extLst>
                </a:gridCol>
                <a:gridCol w="3450234">
                  <a:extLst>
                    <a:ext uri="{9D8B030D-6E8A-4147-A177-3AD203B41FA5}">
                      <a16:colId xmlns:a16="http://schemas.microsoft.com/office/drawing/2014/main" xmlns="" val="20002"/>
                    </a:ext>
                  </a:extLst>
                </a:gridCol>
                <a:gridCol w="3450234">
                  <a:extLst>
                    <a:ext uri="{9D8B030D-6E8A-4147-A177-3AD203B41FA5}">
                      <a16:colId xmlns:a16="http://schemas.microsoft.com/office/drawing/2014/main" xmlns="" val="20003"/>
                    </a:ext>
                  </a:extLst>
                </a:gridCol>
                <a:gridCol w="2238775">
                  <a:extLst>
                    <a:ext uri="{9D8B030D-6E8A-4147-A177-3AD203B41FA5}">
                      <a16:colId xmlns:a16="http://schemas.microsoft.com/office/drawing/2014/main" xmlns="" val="20004"/>
                    </a:ext>
                  </a:extLst>
                </a:gridCol>
              </a:tblGrid>
              <a:tr h="1424290">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No</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Paper Info</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Objective</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Author</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Year</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extLst>
                  <a:ext uri="{0D108BD9-81ED-4DB2-BD59-A6C34878D82A}">
                    <a16:rowId xmlns:a16="http://schemas.microsoft.com/office/drawing/2014/main" xmlns="" val="10000"/>
                  </a:ext>
                </a:extLst>
              </a:tr>
              <a:tr h="2424479">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4</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Title: Hybrid InceptionNet Based Enhanced Architecture for Isolated Sign Language Recognition.</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To improve recognition accuracy of isolated sign language gestures.</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Deep R. Kothadiya; Chintan M. Bhatt</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2024</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extLst>
                  <a:ext uri="{0D108BD9-81ED-4DB2-BD59-A6C34878D82A}">
                    <a16:rowId xmlns:a16="http://schemas.microsoft.com/office/drawing/2014/main" xmlns="" val="10001"/>
                  </a:ext>
                </a:extLst>
              </a:tr>
              <a:tr h="2093419">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5</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Title: Deep Learning-Based Standard Sign Language Discrimination.</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Discriminate standard vs non-standard SL actions in education software.</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Menglin Zhang, Shuying Yang</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2023</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extLst>
                  <a:ext uri="{0D108BD9-81ED-4DB2-BD59-A6C34878D82A}">
                    <a16:rowId xmlns:a16="http://schemas.microsoft.com/office/drawing/2014/main" xmlns="" val="10002"/>
                  </a:ext>
                </a:extLst>
              </a:tr>
              <a:tr h="2093419">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6</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Title: Sign4all: A Low-Cost Application for Deaf People Communication.</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Facilitate communication</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between deaf and hearing individuals using SL alphabet.</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Francisco Morillas-espejo</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tc>
                  <a:txBody>
                    <a:bodyPr/>
                    <a:lstStyle/>
                    <a:p>
                      <a:pPr marL="0" lvl="0" indent="0" algn="ctr">
                        <a:lnSpc>
                          <a:spcPts val="2659"/>
                        </a:lnSpc>
                        <a:spcBef>
                          <a:spcPct val="0"/>
                        </a:spcBef>
                        <a:defRPr/>
                      </a:pPr>
                      <a:endParaRPr lang="en-US" sz="1100"/>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2023</a:t>
                      </a:r>
                    </a:p>
                    <a:p>
                      <a:pPr marL="0" lvl="0" indent="0" algn="ctr">
                        <a:lnSpc>
                          <a:spcPts val="2659"/>
                        </a:lnSpc>
                        <a:spcBef>
                          <a:spcPct val="0"/>
                        </a:spcBef>
                      </a:pPr>
                      <a:r>
                        <a:rPr lang="en-US" sz="1899" u="none" strike="noStrike">
                          <a:solidFill>
                            <a:srgbClr val="000000"/>
                          </a:solidFill>
                          <a:latin typeface="Cormorant Garamond"/>
                          <a:ea typeface="Cormorant Garamond"/>
                          <a:cs typeface="Cormorant Garamond"/>
                          <a:sym typeface="Cormorant Garamond"/>
                        </a:rPr>
                        <a:t>  </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A9BECB"/>
                    </a:solidFill>
                  </a:tcPr>
                </a:tc>
                <a:extLst>
                  <a:ext uri="{0D108BD9-81ED-4DB2-BD59-A6C34878D82A}">
                    <a16:rowId xmlns:a16="http://schemas.microsoft.com/office/drawing/2014/main" xmlns=""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13660651" y="0"/>
            <a:ext cx="4627349" cy="10287000"/>
            <a:chOff x="0" y="0"/>
            <a:chExt cx="1218726" cy="2709333"/>
          </a:xfrm>
        </p:grpSpPr>
        <p:sp>
          <p:nvSpPr>
            <p:cNvPr id="3" name="Freeform 3"/>
            <p:cNvSpPr/>
            <p:nvPr/>
          </p:nvSpPr>
          <p:spPr>
            <a:xfrm>
              <a:off x="0" y="0"/>
              <a:ext cx="1218726" cy="2709333"/>
            </a:xfrm>
            <a:custGeom>
              <a:avLst/>
              <a:gdLst/>
              <a:ahLst/>
              <a:cxnLst/>
              <a:rect l="l" t="t" r="r" b="b"/>
              <a:pathLst>
                <a:path w="1218726" h="2709333">
                  <a:moveTo>
                    <a:pt x="0" y="0"/>
                  </a:moveTo>
                  <a:lnTo>
                    <a:pt x="1218726" y="0"/>
                  </a:lnTo>
                  <a:lnTo>
                    <a:pt x="1218726" y="2709333"/>
                  </a:lnTo>
                  <a:lnTo>
                    <a:pt x="0" y="2709333"/>
                  </a:lnTo>
                  <a:close/>
                </a:path>
              </a:pathLst>
            </a:custGeom>
            <a:solidFill>
              <a:srgbClr val="7994A0"/>
            </a:solidFill>
          </p:spPr>
        </p:sp>
        <p:sp>
          <p:nvSpPr>
            <p:cNvPr id="4" name="TextBox 4"/>
            <p:cNvSpPr txBox="1"/>
            <p:nvPr/>
          </p:nvSpPr>
          <p:spPr>
            <a:xfrm>
              <a:off x="0" y="-123825"/>
              <a:ext cx="1218726" cy="2833158"/>
            </a:xfrm>
            <a:prstGeom prst="rect">
              <a:avLst/>
            </a:prstGeom>
          </p:spPr>
          <p:txBody>
            <a:bodyPr lIns="50800" tIns="50800" rIns="50800" bIns="50800" rtlCol="0" anchor="ctr"/>
            <a:lstStyle/>
            <a:p>
              <a:pPr algn="ctr">
                <a:lnSpc>
                  <a:spcPts val="4079"/>
                </a:lnSpc>
              </a:pPr>
              <a:endParaRPr/>
            </a:p>
          </p:txBody>
        </p:sp>
      </p:grpSp>
      <p:grpSp>
        <p:nvGrpSpPr>
          <p:cNvPr id="5" name="Group 5"/>
          <p:cNvGrpSpPr/>
          <p:nvPr/>
        </p:nvGrpSpPr>
        <p:grpSpPr>
          <a:xfrm>
            <a:off x="12222094" y="1684924"/>
            <a:ext cx="5344227" cy="7573376"/>
            <a:chOff x="0" y="0"/>
            <a:chExt cx="827961" cy="1173314"/>
          </a:xfrm>
        </p:grpSpPr>
        <p:sp>
          <p:nvSpPr>
            <p:cNvPr id="6" name="Freeform 6"/>
            <p:cNvSpPr/>
            <p:nvPr/>
          </p:nvSpPr>
          <p:spPr>
            <a:xfrm>
              <a:off x="0" y="0"/>
              <a:ext cx="827961" cy="1173314"/>
            </a:xfrm>
            <a:custGeom>
              <a:avLst/>
              <a:gdLst/>
              <a:ahLst/>
              <a:cxnLst/>
              <a:rect l="l" t="t" r="r" b="b"/>
              <a:pathLst>
                <a:path w="827961" h="1173314">
                  <a:moveTo>
                    <a:pt x="33319" y="0"/>
                  </a:moveTo>
                  <a:lnTo>
                    <a:pt x="794642" y="0"/>
                  </a:lnTo>
                  <a:cubicBezTo>
                    <a:pt x="813043" y="0"/>
                    <a:pt x="827961" y="14917"/>
                    <a:pt x="827961" y="33319"/>
                  </a:cubicBezTo>
                  <a:lnTo>
                    <a:pt x="827961" y="1139995"/>
                  </a:lnTo>
                  <a:cubicBezTo>
                    <a:pt x="827961" y="1158397"/>
                    <a:pt x="813043" y="1173314"/>
                    <a:pt x="794642" y="1173314"/>
                  </a:cubicBezTo>
                  <a:lnTo>
                    <a:pt x="33319" y="1173314"/>
                  </a:lnTo>
                  <a:cubicBezTo>
                    <a:pt x="14917" y="1173314"/>
                    <a:pt x="0" y="1158397"/>
                    <a:pt x="0" y="1139995"/>
                  </a:cubicBezTo>
                  <a:lnTo>
                    <a:pt x="0" y="33319"/>
                  </a:lnTo>
                  <a:cubicBezTo>
                    <a:pt x="0" y="14917"/>
                    <a:pt x="14917" y="0"/>
                    <a:pt x="33319" y="0"/>
                  </a:cubicBezTo>
                  <a:close/>
                </a:path>
              </a:pathLst>
            </a:custGeom>
            <a:blipFill>
              <a:blip r:embed="rId2" cstate="print"/>
              <a:stretch>
                <a:fillRect l="-56283" r="-56283"/>
              </a:stretch>
            </a:blipFill>
            <a:ln>
              <a:solidFill>
                <a:schemeClr val="tx1"/>
              </a:solidFill>
            </a:ln>
          </p:spPr>
        </p:sp>
      </p:grpSp>
      <p:sp>
        <p:nvSpPr>
          <p:cNvPr id="7" name="TextBox 7"/>
          <p:cNvSpPr txBox="1"/>
          <p:nvPr/>
        </p:nvSpPr>
        <p:spPr>
          <a:xfrm>
            <a:off x="1028700" y="599709"/>
            <a:ext cx="6210300" cy="1154162"/>
          </a:xfrm>
          <a:prstGeom prst="rect">
            <a:avLst/>
          </a:prstGeom>
        </p:spPr>
        <p:txBody>
          <a:bodyPr wrap="square"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EXISTING SYSTEM</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8" name="TextBox 8"/>
          <p:cNvSpPr txBox="1"/>
          <p:nvPr/>
        </p:nvSpPr>
        <p:spPr>
          <a:xfrm>
            <a:off x="990600" y="2171700"/>
            <a:ext cx="10886373" cy="7046929"/>
          </a:xfrm>
          <a:prstGeom prst="rect">
            <a:avLst/>
          </a:prstGeom>
        </p:spPr>
        <p:txBody>
          <a:bodyPr lIns="0" tIns="0" rIns="0" bIns="0" rtlCol="0" anchor="t">
            <a:spAutoFit/>
          </a:bodyPr>
          <a:lstStyle/>
          <a:p>
            <a:pPr marL="0" lvl="0" indent="0" algn="just">
              <a:lnSpc>
                <a:spcPts val="4759"/>
              </a:lnSpc>
              <a:spcBef>
                <a:spcPct val="0"/>
              </a:spcBef>
            </a:pPr>
            <a:r>
              <a:rPr lang="en-US" sz="3200" b="1" u="none" strike="noStrike" dirty="0">
                <a:solidFill>
                  <a:srgbClr val="0F4662"/>
                </a:solidFill>
                <a:latin typeface="Quicksand Bold"/>
                <a:ea typeface="Quicksand Bold"/>
                <a:cs typeface="Quicksand Bold"/>
                <a:sym typeface="Quicksand Bold"/>
              </a:rPr>
              <a:t>Assistive Devices</a:t>
            </a:r>
          </a:p>
          <a:p>
            <a:pPr marL="0" lvl="0" indent="0" algn="just">
              <a:lnSpc>
                <a:spcPts val="4079"/>
              </a:lnSpc>
              <a:spcBef>
                <a:spcPct val="0"/>
              </a:spcBef>
            </a:pPr>
            <a:r>
              <a:rPr lang="en-US" sz="2800" u="none" strike="noStrike" dirty="0">
                <a:solidFill>
                  <a:srgbClr val="0F4662"/>
                </a:solidFill>
                <a:latin typeface="Quicksand"/>
                <a:ea typeface="Quicksand"/>
                <a:cs typeface="Quicksand"/>
                <a:sym typeface="Quicksand"/>
              </a:rPr>
              <a:t>Hearing Aids and Cochlear Implants: Traditional assistive devices include hearing aids and cochlear implants, which aim to improve auditory perception.</a:t>
            </a:r>
          </a:p>
          <a:p>
            <a:pPr marL="0" lvl="0" indent="0" algn="just">
              <a:lnSpc>
                <a:spcPts val="4079"/>
              </a:lnSpc>
              <a:spcBef>
                <a:spcPct val="0"/>
              </a:spcBef>
            </a:pPr>
            <a:endParaRPr lang="en-US" sz="2400" u="none" strike="noStrike" dirty="0">
              <a:solidFill>
                <a:srgbClr val="0F4662"/>
              </a:solidFill>
              <a:latin typeface="Quicksand"/>
              <a:ea typeface="Quicksand"/>
              <a:cs typeface="Quicksand"/>
              <a:sym typeface="Quicksand"/>
            </a:endParaRPr>
          </a:p>
          <a:p>
            <a:pPr marL="0" lvl="0" indent="0" algn="just">
              <a:lnSpc>
                <a:spcPts val="4759"/>
              </a:lnSpc>
              <a:spcBef>
                <a:spcPct val="0"/>
              </a:spcBef>
            </a:pPr>
            <a:r>
              <a:rPr lang="en-US" sz="3200" b="1" u="none" strike="noStrike" dirty="0">
                <a:solidFill>
                  <a:srgbClr val="0F4662"/>
                </a:solidFill>
                <a:latin typeface="Quicksand Bold"/>
                <a:ea typeface="Quicksand Bold"/>
                <a:cs typeface="Quicksand Bold"/>
                <a:sym typeface="Quicksand Bold"/>
              </a:rPr>
              <a:t>Manual Communication Tools</a:t>
            </a:r>
          </a:p>
          <a:p>
            <a:pPr marL="0" lvl="0" indent="0" algn="just">
              <a:lnSpc>
                <a:spcPts val="4079"/>
              </a:lnSpc>
              <a:spcBef>
                <a:spcPct val="0"/>
              </a:spcBef>
            </a:pPr>
            <a:r>
              <a:rPr lang="en-US" sz="2800" u="none" strike="noStrike" dirty="0">
                <a:solidFill>
                  <a:srgbClr val="0F4662"/>
                </a:solidFill>
                <a:latin typeface="Quicksand"/>
                <a:ea typeface="Quicksand"/>
                <a:cs typeface="Quicksand"/>
                <a:sym typeface="Quicksand"/>
              </a:rPr>
              <a:t>Pen and Paper: Traditional tools such as writing or using pen and paper are often employed for basic communication.</a:t>
            </a:r>
          </a:p>
          <a:p>
            <a:pPr marL="0" lvl="0" indent="0" algn="just">
              <a:lnSpc>
                <a:spcPts val="4079"/>
              </a:lnSpc>
              <a:spcBef>
                <a:spcPct val="0"/>
              </a:spcBef>
            </a:pPr>
            <a:endParaRPr lang="en-US" sz="2400" u="none" strike="noStrike" dirty="0">
              <a:solidFill>
                <a:srgbClr val="0F4662"/>
              </a:solidFill>
              <a:latin typeface="Quicksand"/>
              <a:ea typeface="Quicksand"/>
              <a:cs typeface="Quicksand"/>
              <a:sym typeface="Quicksand"/>
            </a:endParaRPr>
          </a:p>
          <a:p>
            <a:pPr marL="0" lvl="0" indent="0" algn="just">
              <a:lnSpc>
                <a:spcPts val="4759"/>
              </a:lnSpc>
              <a:spcBef>
                <a:spcPct val="0"/>
              </a:spcBef>
            </a:pPr>
            <a:r>
              <a:rPr lang="en-US" sz="3200" b="1" u="none" strike="noStrike" dirty="0">
                <a:solidFill>
                  <a:srgbClr val="0F4662"/>
                </a:solidFill>
                <a:latin typeface="Quicksand Bold"/>
                <a:ea typeface="Quicksand Bold"/>
                <a:cs typeface="Quicksand Bold"/>
                <a:sym typeface="Quicksand Bold"/>
              </a:rPr>
              <a:t>Interpreters</a:t>
            </a:r>
          </a:p>
          <a:p>
            <a:pPr marL="0" lvl="0" indent="0" algn="just">
              <a:lnSpc>
                <a:spcPts val="4079"/>
              </a:lnSpc>
              <a:spcBef>
                <a:spcPct val="0"/>
              </a:spcBef>
            </a:pPr>
            <a:r>
              <a:rPr lang="en-US" sz="2800" u="none" strike="noStrike" dirty="0">
                <a:solidFill>
                  <a:srgbClr val="0F4662"/>
                </a:solidFill>
                <a:latin typeface="Quicksand"/>
                <a:ea typeface="Quicksand"/>
                <a:cs typeface="Quicksand"/>
                <a:sym typeface="Quicksand"/>
              </a:rPr>
              <a:t>Sign Language Interpreters: In various situations, sign language interpreters are employed to bridge communication gaps between deaf and hearing individuals.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28700" y="599709"/>
            <a:ext cx="8267700" cy="1154162"/>
          </a:xfrm>
          <a:prstGeom prst="rect">
            <a:avLst/>
          </a:prstGeom>
        </p:spPr>
        <p:txBody>
          <a:bodyPr wrap="square"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EXISTING ALGORITHMS</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3" name="TextBox 3"/>
          <p:cNvSpPr txBox="1"/>
          <p:nvPr/>
        </p:nvSpPr>
        <p:spPr>
          <a:xfrm>
            <a:off x="914400" y="2019300"/>
            <a:ext cx="13296900" cy="9028113"/>
          </a:xfrm>
          <a:prstGeom prst="rect">
            <a:avLst/>
          </a:prstGeom>
        </p:spPr>
        <p:txBody>
          <a:bodyPr wrap="square" lIns="0" tIns="0" rIns="0" bIns="0" rtlCol="0" anchor="t">
            <a:spAutoFit/>
          </a:bodyPr>
          <a:lstStyle/>
          <a:p>
            <a:pPr algn="l">
              <a:lnSpc>
                <a:spcPts val="4419"/>
              </a:lnSpc>
            </a:pPr>
            <a:r>
              <a:rPr lang="en-US" sz="3200" b="1" dirty="0">
                <a:solidFill>
                  <a:srgbClr val="0F4662"/>
                </a:solidFill>
                <a:latin typeface="Quicksand Bold"/>
                <a:ea typeface="Quicksand Bold"/>
                <a:cs typeface="Quicksand Bold"/>
                <a:sym typeface="Quicksand Bold"/>
              </a:rPr>
              <a:t>Support Vector Machines (SVMs)</a:t>
            </a:r>
          </a:p>
          <a:p>
            <a:pPr algn="l">
              <a:lnSpc>
                <a:spcPts val="4419"/>
              </a:lnSpc>
            </a:pPr>
            <a:r>
              <a:rPr lang="en-US" sz="3200" dirty="0">
                <a:solidFill>
                  <a:srgbClr val="0F4662"/>
                </a:solidFill>
                <a:latin typeface="Quicksand"/>
                <a:ea typeface="Quicksand"/>
                <a:cs typeface="Quicksand"/>
                <a:sym typeface="Quicksand"/>
              </a:rPr>
              <a:t>SVMs have been employed for classification tasks in SLR. They work well with high-dimensional feature vectors extracted from sign language images.</a:t>
            </a:r>
          </a:p>
          <a:p>
            <a:pPr algn="l">
              <a:lnSpc>
                <a:spcPts val="4419"/>
              </a:lnSpc>
            </a:pPr>
            <a:endParaRPr lang="en-US" sz="3200" dirty="0">
              <a:solidFill>
                <a:srgbClr val="0F4662"/>
              </a:solidFill>
              <a:latin typeface="Quicksand"/>
              <a:ea typeface="Quicksand"/>
              <a:cs typeface="Quicksand"/>
              <a:sym typeface="Quicksand"/>
            </a:endParaRPr>
          </a:p>
          <a:p>
            <a:pPr algn="l">
              <a:lnSpc>
                <a:spcPts val="4419"/>
              </a:lnSpc>
            </a:pPr>
            <a:r>
              <a:rPr lang="en-US" sz="3200" b="1" dirty="0">
                <a:solidFill>
                  <a:srgbClr val="0F4662"/>
                </a:solidFill>
                <a:latin typeface="Quicksand Bold"/>
                <a:ea typeface="Quicksand Bold"/>
                <a:cs typeface="Quicksand Bold"/>
                <a:sym typeface="Quicksand Bold"/>
              </a:rPr>
              <a:t>Ensemble Learning</a:t>
            </a:r>
          </a:p>
          <a:p>
            <a:pPr algn="l">
              <a:lnSpc>
                <a:spcPts val="4419"/>
              </a:lnSpc>
            </a:pPr>
            <a:r>
              <a:rPr lang="en-US" sz="3200" dirty="0">
                <a:solidFill>
                  <a:srgbClr val="0F4662"/>
                </a:solidFill>
                <a:latin typeface="Quicksand"/>
                <a:ea typeface="Quicksand"/>
                <a:cs typeface="Quicksand"/>
                <a:sym typeface="Quicksand"/>
              </a:rPr>
              <a:t>Ensemble methods, such as Random Forests and Gradient Boosting, can be applied to combine multiple SLR models to improve overall accuracy and robustness.</a:t>
            </a:r>
          </a:p>
          <a:p>
            <a:pPr algn="l">
              <a:lnSpc>
                <a:spcPts val="4419"/>
              </a:lnSpc>
            </a:pPr>
            <a:endParaRPr lang="en-US" sz="3200" dirty="0">
              <a:solidFill>
                <a:srgbClr val="0F4662"/>
              </a:solidFill>
              <a:latin typeface="Quicksand"/>
              <a:ea typeface="Quicksand"/>
              <a:cs typeface="Quicksand"/>
              <a:sym typeface="Quicksand"/>
            </a:endParaRPr>
          </a:p>
          <a:p>
            <a:pPr algn="l">
              <a:lnSpc>
                <a:spcPts val="4419"/>
              </a:lnSpc>
            </a:pPr>
            <a:r>
              <a:rPr lang="en-US" sz="3200" b="1" dirty="0">
                <a:solidFill>
                  <a:srgbClr val="0F4662"/>
                </a:solidFill>
                <a:latin typeface="Quicksand Bold"/>
                <a:ea typeface="Quicksand Bold"/>
                <a:cs typeface="Quicksand Bold"/>
                <a:sym typeface="Quicksand Bold"/>
              </a:rPr>
              <a:t>Gesture Recognition by Learning from Poses (GRBP</a:t>
            </a:r>
            <a:r>
              <a:rPr lang="en-US" sz="3200" b="1" dirty="0" smtClean="0">
                <a:solidFill>
                  <a:srgbClr val="0F4662"/>
                </a:solidFill>
                <a:latin typeface="Quicksand Bold"/>
                <a:ea typeface="Quicksand Bold"/>
                <a:cs typeface="Quicksand Bold"/>
                <a:sym typeface="Quicksand Bold"/>
              </a:rPr>
              <a:t>)</a:t>
            </a:r>
            <a:endParaRPr lang="en-US" sz="3200" b="1" dirty="0">
              <a:solidFill>
                <a:srgbClr val="0F4662"/>
              </a:solidFill>
              <a:latin typeface="Quicksand Bold"/>
              <a:ea typeface="Quicksand Bold"/>
              <a:cs typeface="Quicksand Bold"/>
              <a:sym typeface="Quicksand Bold"/>
            </a:endParaRPr>
          </a:p>
          <a:p>
            <a:pPr algn="l">
              <a:lnSpc>
                <a:spcPts val="4419"/>
              </a:lnSpc>
            </a:pPr>
            <a:r>
              <a:rPr lang="en-US" sz="3200" dirty="0">
                <a:solidFill>
                  <a:srgbClr val="0F4662"/>
                </a:solidFill>
                <a:latin typeface="Quicksand"/>
                <a:ea typeface="Quicksand"/>
                <a:cs typeface="Quicksand"/>
                <a:sym typeface="Quicksand"/>
              </a:rPr>
              <a:t>GRBP is a method that focuses on learning spatial relations between body joint poses for sign language recognition. It utilizes pose features extracted from skeletal data.</a:t>
            </a:r>
          </a:p>
          <a:p>
            <a:pPr algn="l">
              <a:lnSpc>
                <a:spcPts val="4419"/>
              </a:lnSpc>
            </a:pPr>
            <a:endParaRPr lang="en-US" sz="2599" dirty="0">
              <a:solidFill>
                <a:srgbClr val="0F4662"/>
              </a:solidFill>
              <a:latin typeface="Quicksand"/>
              <a:ea typeface="Quicksand"/>
              <a:cs typeface="Quicksand"/>
              <a:sym typeface="Quicksand"/>
            </a:endParaRPr>
          </a:p>
          <a:p>
            <a:pPr marL="0" lvl="0" indent="0" algn="l">
              <a:lnSpc>
                <a:spcPts val="4419"/>
              </a:lnSpc>
            </a:pPr>
            <a:endParaRPr lang="en-US" sz="2599" dirty="0">
              <a:solidFill>
                <a:srgbClr val="0F4662"/>
              </a:solidFill>
              <a:latin typeface="Quicksand"/>
              <a:ea typeface="Quicksand"/>
              <a:cs typeface="Quicksand"/>
              <a:sym typeface="Quicksand"/>
            </a:endParaRPr>
          </a:p>
        </p:txBody>
      </p:sp>
      <p:pic>
        <p:nvPicPr>
          <p:cNvPr id="33794" name="Picture 2" descr="Pen And Paper Icon Vector Art, Icons, and Graphics for Free Download"/>
          <p:cNvPicPr>
            <a:picLocks noChangeAspect="1" noChangeArrowheads="1"/>
          </p:cNvPicPr>
          <p:nvPr/>
        </p:nvPicPr>
        <p:blipFill>
          <a:blip r:embed="rId2" cstate="print"/>
          <a:srcRect/>
          <a:stretch>
            <a:fillRect/>
          </a:stretch>
        </p:blipFill>
        <p:spPr bwMode="auto">
          <a:xfrm>
            <a:off x="14249400" y="3390900"/>
            <a:ext cx="3429000" cy="3429000"/>
          </a:xfrm>
          <a:prstGeom prst="rect">
            <a:avLst/>
          </a:prstGeom>
          <a:noFill/>
          <a:ln>
            <a:solidFill>
              <a:schemeClr val="tx1"/>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sp>
        <p:nvSpPr>
          <p:cNvPr id="2" name="TextBox 2"/>
          <p:cNvSpPr txBox="1"/>
          <p:nvPr/>
        </p:nvSpPr>
        <p:spPr>
          <a:xfrm>
            <a:off x="1028700" y="599709"/>
            <a:ext cx="10326591" cy="1099019"/>
          </a:xfrm>
          <a:prstGeom prst="rect">
            <a:avLst/>
          </a:prstGeom>
        </p:spPr>
        <p:txBody>
          <a:bodyPr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DISADVANTAGE</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3" name="TextBox 3"/>
          <p:cNvSpPr txBox="1"/>
          <p:nvPr/>
        </p:nvSpPr>
        <p:spPr>
          <a:xfrm>
            <a:off x="1143000" y="2095500"/>
            <a:ext cx="15634727" cy="7481920"/>
          </a:xfrm>
          <a:prstGeom prst="rect">
            <a:avLst/>
          </a:prstGeom>
        </p:spPr>
        <p:txBody>
          <a:bodyPr lIns="0" tIns="0" rIns="0" bIns="0" rtlCol="0" anchor="t">
            <a:spAutoFit/>
          </a:bodyPr>
          <a:lstStyle/>
          <a:p>
            <a:pPr marL="625051" lvl="1" indent="-312525" algn="just">
              <a:lnSpc>
                <a:spcPts val="4921"/>
              </a:lnSpc>
              <a:buFont typeface="Arial"/>
              <a:buChar char="•"/>
            </a:pPr>
            <a:r>
              <a:rPr lang="en-US" sz="3200" u="none" strike="noStrike" dirty="0">
                <a:solidFill>
                  <a:srgbClr val="0F4662"/>
                </a:solidFill>
                <a:latin typeface="Quicksand"/>
                <a:ea typeface="Quicksand"/>
                <a:cs typeface="Quicksand"/>
                <a:sym typeface="Quicksand"/>
              </a:rPr>
              <a:t>Traditional systems lead to limited accessibility, hindering communication with non-signers.</a:t>
            </a:r>
          </a:p>
          <a:p>
            <a:pPr marL="625051" lvl="1" indent="-312525" algn="just">
              <a:lnSpc>
                <a:spcPts val="4921"/>
              </a:lnSpc>
              <a:buFont typeface="Arial"/>
              <a:buChar char="•"/>
            </a:pPr>
            <a:r>
              <a:rPr lang="en-US" sz="3200" u="none" strike="noStrike" dirty="0">
                <a:solidFill>
                  <a:srgbClr val="0F4662"/>
                </a:solidFill>
                <a:latin typeface="Quicksand"/>
                <a:ea typeface="Quicksand"/>
                <a:cs typeface="Quicksand"/>
                <a:sym typeface="Quicksand"/>
              </a:rPr>
              <a:t>Real-time processing challenges persist, especially for resource-constrained devices.</a:t>
            </a:r>
          </a:p>
          <a:p>
            <a:pPr marL="625051" lvl="1" indent="-312525" algn="just">
              <a:lnSpc>
                <a:spcPts val="4921"/>
              </a:lnSpc>
              <a:buFont typeface="Arial"/>
              <a:buChar char="•"/>
            </a:pPr>
            <a:r>
              <a:rPr lang="en-US" sz="3200" u="none" strike="noStrike" dirty="0">
                <a:solidFill>
                  <a:srgbClr val="0F4662"/>
                </a:solidFill>
                <a:latin typeface="Quicksand"/>
                <a:ea typeface="Quicksand"/>
                <a:cs typeface="Quicksand"/>
                <a:sym typeface="Quicksand"/>
              </a:rPr>
              <a:t>Existing algorithms lack adaptability to diverse sign language variations.</a:t>
            </a:r>
          </a:p>
          <a:p>
            <a:pPr marL="625051" lvl="1" indent="-312525" algn="just">
              <a:lnSpc>
                <a:spcPts val="4921"/>
              </a:lnSpc>
              <a:buFont typeface="Arial"/>
              <a:buChar char="•"/>
            </a:pPr>
            <a:r>
              <a:rPr lang="en-US" sz="3200" u="none" strike="noStrike" dirty="0">
                <a:solidFill>
                  <a:srgbClr val="0F4662"/>
                </a:solidFill>
                <a:latin typeface="Quicksand"/>
                <a:ea typeface="Quicksand"/>
                <a:cs typeface="Quicksand"/>
                <a:sym typeface="Quicksand"/>
              </a:rPr>
              <a:t>Difficult to interpret the decision-making process.</a:t>
            </a:r>
          </a:p>
          <a:p>
            <a:pPr marL="625051" lvl="1" indent="-312525" algn="just">
              <a:lnSpc>
                <a:spcPts val="4921"/>
              </a:lnSpc>
              <a:buFont typeface="Arial"/>
              <a:buChar char="•"/>
            </a:pPr>
            <a:r>
              <a:rPr lang="en-US" sz="3200" u="none" strike="noStrike" dirty="0">
                <a:solidFill>
                  <a:srgbClr val="0F4662"/>
                </a:solidFill>
                <a:latin typeface="Quicksand"/>
                <a:ea typeface="Quicksand"/>
                <a:cs typeface="Quicksand"/>
                <a:sym typeface="Quicksand"/>
              </a:rPr>
              <a:t>Face challenges in adapting to unseen variations or emerging sign language expressions.</a:t>
            </a:r>
          </a:p>
          <a:p>
            <a:pPr marL="625051" lvl="1" indent="-312525" algn="just">
              <a:lnSpc>
                <a:spcPts val="4921"/>
              </a:lnSpc>
              <a:buFont typeface="Arial"/>
              <a:buChar char="•"/>
            </a:pPr>
            <a:r>
              <a:rPr lang="en-US" sz="3200" u="none" strike="noStrike" dirty="0">
                <a:solidFill>
                  <a:srgbClr val="0F4662"/>
                </a:solidFill>
                <a:latin typeface="Quicksand"/>
                <a:ea typeface="Quicksand"/>
                <a:cs typeface="Quicksand"/>
                <a:sym typeface="Quicksand"/>
              </a:rPr>
              <a:t>Many systems fail to provide real-time translation, causing delays in communication.</a:t>
            </a:r>
          </a:p>
          <a:p>
            <a:pPr marL="625051" lvl="1" indent="-312525" algn="just">
              <a:lnSpc>
                <a:spcPts val="4921"/>
              </a:lnSpc>
              <a:buFont typeface="Arial"/>
              <a:buChar char="•"/>
            </a:pPr>
            <a:r>
              <a:rPr lang="en-US" sz="3200" u="none" strike="noStrike" dirty="0">
                <a:solidFill>
                  <a:srgbClr val="0F4662"/>
                </a:solidFill>
                <a:latin typeface="Quicksand"/>
                <a:ea typeface="Quicksand"/>
                <a:cs typeface="Quicksand"/>
                <a:sym typeface="Quicksand"/>
              </a:rPr>
              <a:t>Virtual platforms often lack robust support for inclusive communication, making it difficult for hearing-impaired users to engage fully.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24384" y="599709"/>
            <a:ext cx="7662416" cy="1154162"/>
          </a:xfrm>
          <a:prstGeom prst="rect">
            <a:avLst/>
          </a:prstGeom>
        </p:spPr>
        <p:txBody>
          <a:bodyPr wrap="square"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PROPOSED SYSTEM</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3" name="Freeform 3"/>
          <p:cNvSpPr/>
          <p:nvPr/>
        </p:nvSpPr>
        <p:spPr>
          <a:xfrm>
            <a:off x="1563645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5" name="TextBox 5"/>
          <p:cNvSpPr txBox="1"/>
          <p:nvPr/>
        </p:nvSpPr>
        <p:spPr>
          <a:xfrm>
            <a:off x="1028700" y="1971384"/>
            <a:ext cx="16234916" cy="7808239"/>
          </a:xfrm>
          <a:prstGeom prst="rect">
            <a:avLst/>
          </a:prstGeom>
        </p:spPr>
        <p:txBody>
          <a:bodyPr lIns="0" tIns="0" rIns="0" bIns="0" rtlCol="0" anchor="t">
            <a:spAutoFit/>
          </a:bodyPr>
          <a:lstStyle/>
          <a:p>
            <a:pPr algn="just">
              <a:lnSpc>
                <a:spcPts val="4140"/>
              </a:lnSpc>
            </a:pPr>
            <a:r>
              <a:rPr lang="en-US" sz="2435" dirty="0">
                <a:solidFill>
                  <a:srgbClr val="0F4662"/>
                </a:solidFill>
                <a:latin typeface="Quicksand"/>
                <a:ea typeface="Quicksand"/>
                <a:cs typeface="Quicksand"/>
                <a:sym typeface="Quicksand"/>
              </a:rPr>
              <a:t>The proposed system integrates advanced AI technologies, to create a seamless, real-time communication experience for hearing and speech-impaired individuals in virtual meetings.</a:t>
            </a:r>
          </a:p>
          <a:p>
            <a:pPr algn="just">
              <a:lnSpc>
                <a:spcPts val="4079"/>
              </a:lnSpc>
            </a:pPr>
            <a:endParaRPr lang="en-US" sz="2435" dirty="0">
              <a:solidFill>
                <a:srgbClr val="0F4662"/>
              </a:solidFill>
              <a:latin typeface="Quicksand"/>
              <a:ea typeface="Quicksand"/>
              <a:cs typeface="Quicksand"/>
              <a:sym typeface="Quicksand"/>
            </a:endParaRPr>
          </a:p>
          <a:p>
            <a:pPr algn="just">
              <a:lnSpc>
                <a:spcPts val="4140"/>
              </a:lnSpc>
            </a:pPr>
            <a:r>
              <a:rPr lang="en-US" sz="2435" b="1" dirty="0">
                <a:solidFill>
                  <a:srgbClr val="0F4662"/>
                </a:solidFill>
                <a:latin typeface="Quicksand Bold"/>
                <a:ea typeface="Quicksand Bold"/>
                <a:cs typeface="Quicksand Bold"/>
                <a:sym typeface="Quicksand Bold"/>
              </a:rPr>
              <a:t>Deaf Companion System</a:t>
            </a:r>
          </a:p>
          <a:p>
            <a:pPr algn="just">
              <a:lnSpc>
                <a:spcPts val="4140"/>
              </a:lnSpc>
            </a:pPr>
            <a:r>
              <a:rPr lang="en-US" sz="2435" dirty="0">
                <a:solidFill>
                  <a:srgbClr val="0F4662"/>
                </a:solidFill>
                <a:latin typeface="Quicksand"/>
                <a:ea typeface="Quicksand"/>
                <a:cs typeface="Quicksand"/>
                <a:sym typeface="Quicksand"/>
              </a:rPr>
              <a:t>The proposed system aims to enhance communication for individuals with hearing and mute disabilities through innovative technologies.</a:t>
            </a:r>
          </a:p>
          <a:p>
            <a:pPr algn="just">
              <a:lnSpc>
                <a:spcPts val="4140"/>
              </a:lnSpc>
            </a:pPr>
            <a:endParaRPr lang="en-US" sz="2435" dirty="0">
              <a:solidFill>
                <a:srgbClr val="0F4662"/>
              </a:solidFill>
              <a:latin typeface="Quicksand"/>
              <a:ea typeface="Quicksand"/>
              <a:cs typeface="Quicksand"/>
              <a:sym typeface="Quicksand"/>
            </a:endParaRPr>
          </a:p>
          <a:p>
            <a:pPr algn="just">
              <a:lnSpc>
                <a:spcPts val="4140"/>
              </a:lnSpc>
            </a:pPr>
            <a:r>
              <a:rPr lang="en-US" sz="2435" b="1" dirty="0">
                <a:solidFill>
                  <a:srgbClr val="0F4662"/>
                </a:solidFill>
                <a:latin typeface="Quicksand Bold"/>
                <a:ea typeface="Quicksand Bold"/>
                <a:cs typeface="Quicksand Bold"/>
                <a:sym typeface="Quicksand Bold"/>
              </a:rPr>
              <a:t>Two-Way Communication</a:t>
            </a:r>
          </a:p>
          <a:p>
            <a:pPr algn="just">
              <a:lnSpc>
                <a:spcPts val="4140"/>
              </a:lnSpc>
            </a:pPr>
            <a:r>
              <a:rPr lang="en-US" sz="2435" dirty="0">
                <a:solidFill>
                  <a:srgbClr val="0F4662"/>
                </a:solidFill>
                <a:latin typeface="Quicksand"/>
                <a:ea typeface="Quicksand"/>
                <a:cs typeface="Quicksand"/>
                <a:sym typeface="Quicksand"/>
              </a:rPr>
              <a:t>Implementation of a comprehensive two-way communication system, fostering seamless interaction between deaf individuals and the broader community in virtual meeting platforms.</a:t>
            </a:r>
          </a:p>
          <a:p>
            <a:pPr algn="just">
              <a:lnSpc>
                <a:spcPts val="4140"/>
              </a:lnSpc>
            </a:pPr>
            <a:endParaRPr lang="en-US" sz="2435" dirty="0">
              <a:solidFill>
                <a:srgbClr val="0F4662"/>
              </a:solidFill>
              <a:latin typeface="Quicksand"/>
              <a:ea typeface="Quicksand"/>
              <a:cs typeface="Quicksand"/>
              <a:sym typeface="Quicksand"/>
            </a:endParaRPr>
          </a:p>
          <a:p>
            <a:pPr algn="just">
              <a:lnSpc>
                <a:spcPts val="4140"/>
              </a:lnSpc>
            </a:pPr>
            <a:r>
              <a:rPr lang="en-US" sz="2435" b="1" dirty="0" err="1">
                <a:solidFill>
                  <a:srgbClr val="0F4662"/>
                </a:solidFill>
                <a:latin typeface="Quicksand Bold"/>
                <a:ea typeface="Quicksand Bold"/>
                <a:cs typeface="Quicksand Bold"/>
                <a:sym typeface="Quicksand Bold"/>
              </a:rPr>
              <a:t>SignNet</a:t>
            </a:r>
            <a:r>
              <a:rPr lang="en-US" sz="2435" b="1" dirty="0">
                <a:solidFill>
                  <a:srgbClr val="0F4662"/>
                </a:solidFill>
                <a:latin typeface="Quicksand Bold"/>
                <a:ea typeface="Quicksand Bold"/>
                <a:cs typeface="Quicksand Bold"/>
                <a:sym typeface="Quicksand Bold"/>
              </a:rPr>
              <a:t> Model Architecture</a:t>
            </a:r>
          </a:p>
          <a:p>
            <a:pPr algn="just">
              <a:lnSpc>
                <a:spcPts val="4140"/>
              </a:lnSpc>
            </a:pPr>
            <a:r>
              <a:rPr lang="en-US" sz="2435" dirty="0">
                <a:solidFill>
                  <a:srgbClr val="0F4662"/>
                </a:solidFill>
                <a:latin typeface="Quicksand"/>
                <a:ea typeface="Quicksand"/>
                <a:cs typeface="Quicksand"/>
                <a:sym typeface="Quicksand"/>
              </a:rPr>
              <a:t>Development of the </a:t>
            </a:r>
            <a:r>
              <a:rPr lang="en-US" sz="2435" dirty="0" err="1">
                <a:solidFill>
                  <a:srgbClr val="0F4662"/>
                </a:solidFill>
                <a:latin typeface="Quicksand"/>
                <a:ea typeface="Quicksand"/>
                <a:cs typeface="Quicksand"/>
                <a:sym typeface="Quicksand"/>
              </a:rPr>
              <a:t>SignNet</a:t>
            </a:r>
            <a:r>
              <a:rPr lang="en-US" sz="2435" dirty="0">
                <a:solidFill>
                  <a:srgbClr val="0F4662"/>
                </a:solidFill>
                <a:latin typeface="Quicksand"/>
                <a:ea typeface="Quicksand"/>
                <a:cs typeface="Quicksand"/>
                <a:sym typeface="Quicksand"/>
              </a:rPr>
              <a:t> Model, combining </a:t>
            </a:r>
            <a:r>
              <a:rPr lang="en-US" sz="2435" dirty="0" err="1">
                <a:solidFill>
                  <a:srgbClr val="0F4662"/>
                </a:solidFill>
                <a:latin typeface="Quicksand"/>
                <a:ea typeface="Quicksand"/>
                <a:cs typeface="Quicksand"/>
                <a:sym typeface="Quicksand"/>
              </a:rPr>
              <a:t>Convolutional</a:t>
            </a:r>
            <a:r>
              <a:rPr lang="en-US" sz="2435" dirty="0">
                <a:solidFill>
                  <a:srgbClr val="0F4662"/>
                </a:solidFill>
                <a:latin typeface="Quicksand"/>
                <a:ea typeface="Quicksand"/>
                <a:cs typeface="Quicksand"/>
                <a:sym typeface="Quicksand"/>
              </a:rPr>
              <a:t> Neural Networks (CNN) and Temporal </a:t>
            </a:r>
            <a:r>
              <a:rPr lang="en-US" sz="2435" dirty="0" err="1">
                <a:solidFill>
                  <a:srgbClr val="0F4662"/>
                </a:solidFill>
                <a:latin typeface="Quicksand"/>
                <a:ea typeface="Quicksand"/>
                <a:cs typeface="Quicksand"/>
                <a:sym typeface="Quicksand"/>
              </a:rPr>
              <a:t>Convolutional</a:t>
            </a:r>
            <a:r>
              <a:rPr lang="en-US" sz="2435" dirty="0">
                <a:solidFill>
                  <a:srgbClr val="0F4662"/>
                </a:solidFill>
                <a:latin typeface="Quicksand"/>
                <a:ea typeface="Quicksand"/>
                <a:cs typeface="Quicksand"/>
                <a:sym typeface="Quicksand"/>
              </a:rPr>
              <a:t> Networks (TCN) for robust sign language recognition.</a:t>
            </a:r>
          </a:p>
          <a:p>
            <a:pPr algn="just">
              <a:lnSpc>
                <a:spcPts val="4140"/>
              </a:lnSpc>
            </a:pPr>
            <a:endParaRPr lang="en-US" sz="2435" dirty="0">
              <a:solidFill>
                <a:srgbClr val="0F4662"/>
              </a:solidFill>
              <a:latin typeface="Quicksand"/>
              <a:ea typeface="Quicksand"/>
              <a:cs typeface="Quicksand"/>
              <a:sym typeface="Quicksan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3" name="Freeform 3"/>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4" name="TextBox 4"/>
          <p:cNvSpPr txBox="1"/>
          <p:nvPr/>
        </p:nvSpPr>
        <p:spPr>
          <a:xfrm>
            <a:off x="762000" y="1028700"/>
            <a:ext cx="16611600" cy="8309967"/>
          </a:xfrm>
          <a:prstGeom prst="rect">
            <a:avLst/>
          </a:prstGeom>
        </p:spPr>
        <p:txBody>
          <a:bodyPr wrap="square" lIns="0" tIns="0" rIns="0" bIns="0" rtlCol="0" anchor="t">
            <a:spAutoFit/>
          </a:bodyPr>
          <a:lstStyle/>
          <a:p>
            <a:pPr algn="just">
              <a:lnSpc>
                <a:spcPts val="3606"/>
              </a:lnSpc>
            </a:pPr>
            <a:r>
              <a:rPr lang="en-US" sz="2800" b="1" dirty="0">
                <a:solidFill>
                  <a:srgbClr val="0F4662"/>
                </a:solidFill>
                <a:latin typeface="Quicksand Bold"/>
                <a:ea typeface="Quicksand Bold"/>
                <a:cs typeface="Quicksand Bold"/>
                <a:sym typeface="Quicksand Bold"/>
              </a:rPr>
              <a:t>Sign Language Recognition Module (SRM)</a:t>
            </a:r>
          </a:p>
          <a:p>
            <a:pPr algn="just">
              <a:lnSpc>
                <a:spcPts val="3606"/>
              </a:lnSpc>
            </a:pPr>
            <a:r>
              <a:rPr lang="en-US" sz="2800" dirty="0">
                <a:solidFill>
                  <a:srgbClr val="0F4662"/>
                </a:solidFill>
                <a:latin typeface="Quicksand"/>
                <a:ea typeface="Quicksand"/>
                <a:cs typeface="Quicksand"/>
                <a:sym typeface="Quicksand"/>
              </a:rPr>
              <a:t>The Sign Recognition Module (SRM) utilizes Temporal Convolutional Networks (TCNs) to accurately interpret sign language in real-time. This allows for seamless communication between hearing and speech-impaired individuals by converting gestures into understandable text or speech.</a:t>
            </a:r>
          </a:p>
          <a:p>
            <a:pPr algn="just">
              <a:lnSpc>
                <a:spcPts val="3606"/>
              </a:lnSpc>
            </a:pPr>
            <a:endParaRPr lang="en-US" sz="2800" dirty="0">
              <a:solidFill>
                <a:srgbClr val="0F4662"/>
              </a:solidFill>
              <a:latin typeface="Quicksand"/>
              <a:ea typeface="Quicksand"/>
              <a:cs typeface="Quicksand"/>
              <a:sym typeface="Quicksand"/>
            </a:endParaRPr>
          </a:p>
          <a:p>
            <a:pPr algn="just">
              <a:lnSpc>
                <a:spcPts val="3606"/>
              </a:lnSpc>
            </a:pPr>
            <a:r>
              <a:rPr lang="en-US" sz="2800" b="1" dirty="0">
                <a:solidFill>
                  <a:srgbClr val="0F4662"/>
                </a:solidFill>
                <a:latin typeface="Quicksand Bold"/>
                <a:ea typeface="Quicksand Bold"/>
                <a:cs typeface="Quicksand Bold"/>
                <a:sym typeface="Quicksand Bold"/>
              </a:rPr>
              <a:t>Speech Recognition and Synthesis Module (SRSM)</a:t>
            </a:r>
          </a:p>
          <a:p>
            <a:pPr algn="just">
              <a:lnSpc>
                <a:spcPts val="3606"/>
              </a:lnSpc>
            </a:pPr>
            <a:r>
              <a:rPr lang="en-US" sz="2800" dirty="0">
                <a:solidFill>
                  <a:srgbClr val="0F4662"/>
                </a:solidFill>
                <a:latin typeface="Quicksand"/>
                <a:ea typeface="Quicksand"/>
                <a:cs typeface="Quicksand"/>
                <a:sym typeface="Quicksand"/>
              </a:rPr>
              <a:t>The Speech Recognition and Synthesis Module (SRSM) employs Hidden Markov Models (HMMs) to transform spoken language into text, enabling easy comprehension for both deaf and hearing users. It ensures that spoken words are effectively converted into accessible formats.</a:t>
            </a:r>
          </a:p>
          <a:p>
            <a:pPr algn="just">
              <a:lnSpc>
                <a:spcPts val="3606"/>
              </a:lnSpc>
            </a:pPr>
            <a:endParaRPr lang="en-US" sz="2800" dirty="0">
              <a:solidFill>
                <a:srgbClr val="0F4662"/>
              </a:solidFill>
              <a:latin typeface="Quicksand"/>
              <a:ea typeface="Quicksand"/>
              <a:cs typeface="Quicksand"/>
              <a:sym typeface="Quicksand"/>
            </a:endParaRPr>
          </a:p>
          <a:p>
            <a:pPr algn="just">
              <a:lnSpc>
                <a:spcPts val="3606"/>
              </a:lnSpc>
            </a:pPr>
            <a:r>
              <a:rPr lang="en-US" sz="2800" b="1" dirty="0">
                <a:solidFill>
                  <a:srgbClr val="0F4662"/>
                </a:solidFill>
                <a:latin typeface="Quicksand Bold"/>
                <a:ea typeface="Quicksand Bold"/>
                <a:cs typeface="Quicksand Bold"/>
                <a:sym typeface="Quicksand Bold"/>
              </a:rPr>
              <a:t>Avatar Module (AM)</a:t>
            </a:r>
          </a:p>
          <a:p>
            <a:pPr algn="just">
              <a:lnSpc>
                <a:spcPts val="3606"/>
              </a:lnSpc>
            </a:pPr>
            <a:r>
              <a:rPr lang="en-US" sz="2800" dirty="0">
                <a:solidFill>
                  <a:srgbClr val="0F4662"/>
                </a:solidFill>
                <a:latin typeface="Quicksand"/>
                <a:ea typeface="Quicksand"/>
                <a:cs typeface="Quicksand"/>
                <a:sym typeface="Quicksand"/>
              </a:rPr>
              <a:t>The Avatar Module (AM) visually translates spoken language into corresponding sign language using 3D animation.</a:t>
            </a:r>
          </a:p>
          <a:p>
            <a:pPr algn="just">
              <a:lnSpc>
                <a:spcPts val="3606"/>
              </a:lnSpc>
            </a:pPr>
            <a:endParaRPr lang="en-US" sz="2800" dirty="0">
              <a:solidFill>
                <a:srgbClr val="0F4662"/>
              </a:solidFill>
              <a:latin typeface="Quicksand"/>
              <a:ea typeface="Quicksand"/>
              <a:cs typeface="Quicksand"/>
              <a:sym typeface="Quicksand"/>
            </a:endParaRPr>
          </a:p>
          <a:p>
            <a:pPr algn="just">
              <a:lnSpc>
                <a:spcPts val="3606"/>
              </a:lnSpc>
            </a:pPr>
            <a:r>
              <a:rPr lang="en-US" sz="2800" b="1" dirty="0">
                <a:solidFill>
                  <a:srgbClr val="0F4662"/>
                </a:solidFill>
                <a:latin typeface="Quicksand Bold"/>
                <a:ea typeface="Quicksand Bold"/>
                <a:cs typeface="Quicksand Bold"/>
                <a:sym typeface="Quicksand Bold"/>
              </a:rPr>
              <a:t>Integration with Virtual Platforms</a:t>
            </a:r>
          </a:p>
          <a:p>
            <a:pPr algn="just">
              <a:lnSpc>
                <a:spcPts val="3606"/>
              </a:lnSpc>
            </a:pPr>
            <a:r>
              <a:rPr lang="en-US" sz="2800" dirty="0">
                <a:solidFill>
                  <a:srgbClr val="0F4662"/>
                </a:solidFill>
                <a:latin typeface="Quicksand"/>
                <a:ea typeface="Quicksand"/>
                <a:cs typeface="Quicksand"/>
                <a:sym typeface="Quicksand"/>
              </a:rPr>
              <a:t>The system is designed to be integrated with popular virtual platforms. This ensures that inclusivity is maintained, and all users, regardless of their communication abilities, can participate effectively in virtual meetings.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sp>
        <p:nvSpPr>
          <p:cNvPr id="2" name="TextBox 2"/>
          <p:cNvSpPr txBox="1"/>
          <p:nvPr/>
        </p:nvSpPr>
        <p:spPr>
          <a:xfrm>
            <a:off x="1143000" y="952500"/>
            <a:ext cx="10326591" cy="1099019"/>
          </a:xfrm>
          <a:prstGeom prst="rect">
            <a:avLst/>
          </a:prstGeom>
        </p:spPr>
        <p:txBody>
          <a:bodyPr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ADVANTAGE</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3" name="TextBox 3"/>
          <p:cNvSpPr txBox="1"/>
          <p:nvPr/>
        </p:nvSpPr>
        <p:spPr>
          <a:xfrm>
            <a:off x="1028700" y="2754831"/>
            <a:ext cx="16230600" cy="5610190"/>
          </a:xfrm>
          <a:prstGeom prst="rect">
            <a:avLst/>
          </a:prstGeom>
        </p:spPr>
        <p:txBody>
          <a:bodyPr lIns="0" tIns="0" rIns="0" bIns="0" rtlCol="0" anchor="t">
            <a:spAutoFit/>
          </a:bodyPr>
          <a:lstStyle/>
          <a:p>
            <a:pPr marL="762408" lvl="1" indent="-381204" algn="just">
              <a:lnSpc>
                <a:spcPct val="150000"/>
              </a:lnSpc>
              <a:buFont typeface="Arial"/>
              <a:buChar char="•"/>
            </a:pPr>
            <a:r>
              <a:rPr lang="en-US" sz="3531" dirty="0">
                <a:solidFill>
                  <a:srgbClr val="0F4662"/>
                </a:solidFill>
                <a:latin typeface="Quicksand"/>
                <a:ea typeface="Quicksand"/>
                <a:cs typeface="Quicksand"/>
                <a:sym typeface="Quicksand"/>
              </a:rPr>
              <a:t>B</a:t>
            </a:r>
            <a:r>
              <a:rPr lang="en-US" sz="3531" u="none" strike="noStrike" dirty="0">
                <a:solidFill>
                  <a:srgbClr val="0F4662"/>
                </a:solidFill>
                <a:latin typeface="Quicksand"/>
                <a:ea typeface="Quicksand"/>
                <a:cs typeface="Quicksand"/>
                <a:sym typeface="Quicksand"/>
              </a:rPr>
              <a:t>ridges communication gaps for hearing and speech-impaired individuals.</a:t>
            </a:r>
          </a:p>
          <a:p>
            <a:pPr marL="762408" lvl="1" indent="-381204" algn="just">
              <a:lnSpc>
                <a:spcPct val="150000"/>
              </a:lnSpc>
              <a:buFont typeface="Arial"/>
              <a:buChar char="•"/>
            </a:pPr>
            <a:r>
              <a:rPr lang="en-US" sz="3531" u="none" strike="noStrike" dirty="0">
                <a:solidFill>
                  <a:srgbClr val="0F4662"/>
                </a:solidFill>
                <a:latin typeface="Quicksand"/>
                <a:ea typeface="Quicksand"/>
                <a:cs typeface="Quicksand"/>
                <a:sym typeface="Quicksand"/>
              </a:rPr>
              <a:t>Provides accurate, real-time sign language and speech-to-text conversion.</a:t>
            </a:r>
          </a:p>
          <a:p>
            <a:pPr marL="762408" lvl="1" indent="-381204" algn="just">
              <a:lnSpc>
                <a:spcPct val="150000"/>
              </a:lnSpc>
              <a:buFont typeface="Arial"/>
              <a:buChar char="•"/>
            </a:pPr>
            <a:r>
              <a:rPr lang="en-US" sz="3531" u="none" strike="noStrike" dirty="0">
                <a:solidFill>
                  <a:srgbClr val="0F4662"/>
                </a:solidFill>
                <a:latin typeface="Quicksand"/>
                <a:ea typeface="Quicksand"/>
                <a:cs typeface="Quicksand"/>
                <a:sym typeface="Quicksand"/>
              </a:rPr>
              <a:t>Utilizes TCNs and HMMs for high accuracy.</a:t>
            </a:r>
          </a:p>
          <a:p>
            <a:pPr marL="762408" lvl="1" indent="-381204" algn="just">
              <a:lnSpc>
                <a:spcPct val="150000"/>
              </a:lnSpc>
              <a:buFont typeface="Arial"/>
              <a:buChar char="•"/>
            </a:pPr>
            <a:r>
              <a:rPr lang="en-US" sz="3531" u="none" strike="noStrike" dirty="0">
                <a:solidFill>
                  <a:srgbClr val="0F4662"/>
                </a:solidFill>
                <a:latin typeface="Quicksand"/>
                <a:ea typeface="Quicksand"/>
                <a:cs typeface="Quicksand"/>
                <a:sym typeface="Quicksand"/>
              </a:rPr>
              <a:t>Easily integrates with Virtual platforms.</a:t>
            </a:r>
          </a:p>
          <a:p>
            <a:pPr marL="762408" lvl="1" indent="-381204" algn="just">
              <a:lnSpc>
                <a:spcPct val="150000"/>
              </a:lnSpc>
              <a:buFont typeface="Arial"/>
              <a:buChar char="•"/>
            </a:pPr>
            <a:r>
              <a:rPr lang="en-US" sz="3531" u="none" strike="noStrike" dirty="0">
                <a:solidFill>
                  <a:srgbClr val="0F4662"/>
                </a:solidFill>
                <a:latin typeface="Quicksand"/>
                <a:ea typeface="Quicksand"/>
                <a:cs typeface="Quicksand"/>
                <a:sym typeface="Quicksand"/>
              </a:rPr>
              <a:t>Includes Avatar Module for visual sign language representation.</a:t>
            </a:r>
          </a:p>
          <a:p>
            <a:pPr marL="762408" lvl="1" indent="-381204" algn="just">
              <a:lnSpc>
                <a:spcPct val="150000"/>
              </a:lnSpc>
              <a:buFont typeface="Arial"/>
              <a:buChar char="•"/>
            </a:pPr>
            <a:r>
              <a:rPr lang="en-US" sz="3531" u="none" strike="noStrike" dirty="0">
                <a:solidFill>
                  <a:srgbClr val="0F4662"/>
                </a:solidFill>
                <a:latin typeface="Quicksand"/>
                <a:ea typeface="Quicksand"/>
                <a:cs typeface="Quicksand"/>
                <a:sym typeface="Quicksand"/>
              </a:rPr>
              <a:t>Reduces need for physical interpreters.</a:t>
            </a:r>
          </a:p>
          <a:p>
            <a:pPr marL="762408" lvl="1" indent="-381204" algn="just">
              <a:lnSpc>
                <a:spcPct val="150000"/>
              </a:lnSpc>
              <a:buFont typeface="Arial"/>
              <a:buChar char="•"/>
            </a:pPr>
            <a:r>
              <a:rPr lang="en-US" sz="3531" u="none" strike="noStrike" dirty="0">
                <a:solidFill>
                  <a:srgbClr val="0F4662"/>
                </a:solidFill>
                <a:latin typeface="Quicksand"/>
                <a:ea typeface="Quicksand"/>
                <a:cs typeface="Quicksand"/>
                <a:sym typeface="Quicksand"/>
              </a:rPr>
              <a:t>Enhances user participation with a more intuitive experience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399684" y="2289106"/>
            <a:ext cx="15940882" cy="6038935"/>
          </a:xfrm>
          <a:prstGeom prst="rect">
            <a:avLst/>
          </a:prstGeom>
        </p:spPr>
        <p:txBody>
          <a:bodyPr lIns="0" tIns="0" rIns="0" bIns="0" rtlCol="0" anchor="t">
            <a:spAutoFit/>
          </a:bodyPr>
          <a:lstStyle/>
          <a:p>
            <a:pPr marL="679797" lvl="1" indent="-339898" algn="just">
              <a:lnSpc>
                <a:spcPts val="5352"/>
              </a:lnSpc>
              <a:buFont typeface="Arial"/>
              <a:buChar char="•"/>
            </a:pPr>
            <a:r>
              <a:rPr lang="en-US" sz="3148" u="none" strike="noStrike" dirty="0">
                <a:solidFill>
                  <a:srgbClr val="0F4662"/>
                </a:solidFill>
                <a:latin typeface="Quicksand"/>
                <a:ea typeface="Quicksand"/>
                <a:cs typeface="Quicksand"/>
                <a:sym typeface="Quicksand"/>
              </a:rPr>
              <a:t>Programming Languages: Python 3.</a:t>
            </a:r>
          </a:p>
          <a:p>
            <a:pPr marL="679797" lvl="1" indent="-339898" algn="just">
              <a:lnSpc>
                <a:spcPts val="5352"/>
              </a:lnSpc>
              <a:buFont typeface="Arial"/>
              <a:buChar char="•"/>
            </a:pPr>
            <a:r>
              <a:rPr lang="en-US" sz="3148" u="none" strike="noStrike" dirty="0">
                <a:solidFill>
                  <a:srgbClr val="0F4662"/>
                </a:solidFill>
                <a:latin typeface="Quicksand"/>
                <a:ea typeface="Quicksand"/>
                <a:cs typeface="Quicksand"/>
                <a:sym typeface="Quicksand"/>
              </a:rPr>
              <a:t>Web Development Tools</a:t>
            </a:r>
          </a:p>
          <a:p>
            <a:pPr algn="just">
              <a:lnSpc>
                <a:spcPts val="5352"/>
              </a:lnSpc>
            </a:pPr>
            <a:r>
              <a:rPr lang="en-US" sz="3148" u="none" strike="noStrike" dirty="0">
                <a:solidFill>
                  <a:srgbClr val="0F4662"/>
                </a:solidFill>
                <a:latin typeface="Quicksand"/>
                <a:ea typeface="Quicksand"/>
                <a:cs typeface="Quicksand"/>
                <a:sym typeface="Quicksand"/>
              </a:rPr>
              <a:t>          Flask: Web framework for handling requests and serving the application.</a:t>
            </a:r>
          </a:p>
          <a:p>
            <a:pPr algn="just">
              <a:lnSpc>
                <a:spcPts val="5352"/>
              </a:lnSpc>
            </a:pPr>
            <a:r>
              <a:rPr lang="en-US" sz="3148" u="none" strike="noStrike" dirty="0">
                <a:solidFill>
                  <a:srgbClr val="0F4662"/>
                </a:solidFill>
                <a:latin typeface="Quicksand"/>
                <a:ea typeface="Quicksand"/>
                <a:cs typeface="Quicksand"/>
                <a:sym typeface="Quicksand"/>
              </a:rPr>
              <a:t>          WampServer: Local server environment for running the Flask application </a:t>
            </a:r>
          </a:p>
          <a:p>
            <a:pPr marL="679797" lvl="1" indent="-339898" algn="just">
              <a:lnSpc>
                <a:spcPts val="5352"/>
              </a:lnSpc>
              <a:buFont typeface="Arial"/>
              <a:buChar char="•"/>
            </a:pPr>
            <a:r>
              <a:rPr lang="en-US" sz="3148" u="none" strike="noStrike" dirty="0">
                <a:solidFill>
                  <a:srgbClr val="0F4662"/>
                </a:solidFill>
                <a:latin typeface="Quicksand"/>
                <a:ea typeface="Quicksand"/>
                <a:cs typeface="Quicksand"/>
                <a:sym typeface="Quicksand"/>
              </a:rPr>
              <a:t>AI &amp; Machine Learning Tools</a:t>
            </a:r>
          </a:p>
          <a:p>
            <a:pPr algn="just">
              <a:lnSpc>
                <a:spcPts val="5352"/>
              </a:lnSpc>
            </a:pPr>
            <a:r>
              <a:rPr lang="en-US" sz="3148" u="none" strike="noStrike" dirty="0">
                <a:solidFill>
                  <a:srgbClr val="0F4662"/>
                </a:solidFill>
                <a:latin typeface="Quicksand"/>
                <a:ea typeface="Quicksand"/>
                <a:cs typeface="Quicksand"/>
                <a:sym typeface="Quicksand"/>
              </a:rPr>
              <a:t>          Tensor Flow: For hand gesture recognition in video streams.</a:t>
            </a:r>
          </a:p>
          <a:p>
            <a:pPr algn="just">
              <a:lnSpc>
                <a:spcPts val="5352"/>
              </a:lnSpc>
            </a:pPr>
            <a:r>
              <a:rPr lang="en-US" sz="3148" u="none" strike="noStrike" dirty="0">
                <a:solidFill>
                  <a:srgbClr val="0F4662"/>
                </a:solidFill>
                <a:latin typeface="Quicksand"/>
                <a:ea typeface="Quicksand"/>
                <a:cs typeface="Quicksand"/>
                <a:sym typeface="Quicksand"/>
              </a:rPr>
              <a:t>          OpenCV: For video capture and processing.</a:t>
            </a:r>
          </a:p>
          <a:p>
            <a:pPr marL="679797" lvl="1" indent="-339898" algn="just">
              <a:lnSpc>
                <a:spcPts val="5352"/>
              </a:lnSpc>
              <a:buFont typeface="Arial"/>
              <a:buChar char="•"/>
            </a:pPr>
            <a:r>
              <a:rPr lang="en-US" sz="3148" u="none" strike="noStrike" dirty="0">
                <a:solidFill>
                  <a:srgbClr val="0F4662"/>
                </a:solidFill>
                <a:latin typeface="Quicksand"/>
                <a:ea typeface="Quicksand"/>
                <a:cs typeface="Quicksand"/>
                <a:sym typeface="Quicksand"/>
              </a:rPr>
              <a:t>Video Calling Tools: </a:t>
            </a:r>
            <a:r>
              <a:rPr lang="en-US" sz="3148" u="none" strike="noStrike" dirty="0" err="1">
                <a:solidFill>
                  <a:srgbClr val="0F4662"/>
                </a:solidFill>
                <a:latin typeface="Quicksand"/>
                <a:ea typeface="Quicksand"/>
                <a:cs typeface="Quicksand"/>
                <a:sym typeface="Quicksand"/>
              </a:rPr>
              <a:t>jitsi</a:t>
            </a:r>
            <a:r>
              <a:rPr lang="en-US" sz="3148" u="none" strike="noStrike" dirty="0">
                <a:solidFill>
                  <a:srgbClr val="0F4662"/>
                </a:solidFill>
                <a:latin typeface="Quicksand"/>
                <a:ea typeface="Quicksand"/>
                <a:cs typeface="Quicksand"/>
                <a:sym typeface="Quicksand"/>
              </a:rPr>
              <a:t>-For enabling real-time video calls.</a:t>
            </a:r>
          </a:p>
          <a:p>
            <a:pPr marL="679797" lvl="1" indent="-339898" algn="just">
              <a:lnSpc>
                <a:spcPts val="5352"/>
              </a:lnSpc>
              <a:buFont typeface="Arial"/>
              <a:buChar char="•"/>
            </a:pPr>
            <a:r>
              <a:rPr lang="en-US" sz="3148" u="none" strike="noStrike" dirty="0">
                <a:solidFill>
                  <a:srgbClr val="0F4662"/>
                </a:solidFill>
                <a:latin typeface="Quicksand"/>
                <a:ea typeface="Quicksand"/>
                <a:cs typeface="Quicksand"/>
                <a:sym typeface="Quicksand"/>
              </a:rPr>
              <a:t>Database: MySQL-For storing user and meeting data (managed via WampServer).</a:t>
            </a:r>
          </a:p>
        </p:txBody>
      </p:sp>
      <p:sp>
        <p:nvSpPr>
          <p:cNvPr id="3" name="TextBox 3"/>
          <p:cNvSpPr txBox="1"/>
          <p:nvPr/>
        </p:nvSpPr>
        <p:spPr>
          <a:xfrm>
            <a:off x="1028700" y="691149"/>
            <a:ext cx="10724978" cy="1099019"/>
          </a:xfrm>
          <a:prstGeom prst="rect">
            <a:avLst/>
          </a:prstGeom>
        </p:spPr>
        <p:txBody>
          <a:bodyPr lIns="0" tIns="0" rIns="0" bIns="0" rtlCol="0" anchor="t">
            <a:spAutoFit/>
          </a:bodyPr>
          <a:lstStyle/>
          <a:p>
            <a:pPr algn="l">
              <a:lnSpc>
                <a:spcPts val="8959"/>
              </a:lnSpc>
            </a:pPr>
            <a:r>
              <a:rPr lang="en-US" sz="6399" b="1" dirty="0" smtClean="0">
                <a:solidFill>
                  <a:srgbClr val="0F4662"/>
                </a:solidFill>
                <a:latin typeface="Cormorant Garamond Bold"/>
                <a:ea typeface="Cormorant Garamond Bold"/>
                <a:cs typeface="Cormorant Garamond Bold"/>
                <a:sym typeface="Cormorant Garamond Bold"/>
              </a:rPr>
              <a:t>SOFTWARE REQUIREMENT</a:t>
            </a:r>
            <a:endParaRPr lang="en-US" sz="6399" b="1" dirty="0">
              <a:solidFill>
                <a:srgbClr val="0F4662"/>
              </a:solidFill>
              <a:latin typeface="Cormorant Garamond Bold"/>
              <a:ea typeface="Cormorant Garamond Bold"/>
              <a:cs typeface="Cormorant Garamond Bold"/>
              <a:sym typeface="Cormorant Garamond Bold"/>
            </a:endParaRPr>
          </a:p>
        </p:txBody>
      </p:sp>
      <p:sp>
        <p:nvSpPr>
          <p:cNvPr id="4" name="Freeform 4"/>
          <p:cNvSpPr/>
          <p:nvPr/>
        </p:nvSpPr>
        <p:spPr>
          <a:xfrm>
            <a:off x="15579303" y="69114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8305800" y="419100"/>
            <a:ext cx="8531668" cy="9349773"/>
          </a:xfrm>
          <a:custGeom>
            <a:avLst/>
            <a:gdLst/>
            <a:ahLst/>
            <a:cxnLst/>
            <a:rect l="l" t="t" r="r" b="b"/>
            <a:pathLst>
              <a:path w="8531668" h="9349773">
                <a:moveTo>
                  <a:pt x="0" y="0"/>
                </a:moveTo>
                <a:lnTo>
                  <a:pt x="8531668" y="0"/>
                </a:lnTo>
                <a:lnTo>
                  <a:pt x="8531668" y="9349772"/>
                </a:lnTo>
                <a:lnTo>
                  <a:pt x="0" y="9349772"/>
                </a:lnTo>
                <a:lnTo>
                  <a:pt x="0" y="0"/>
                </a:lnTo>
                <a:close/>
              </a:path>
            </a:pathLst>
          </a:custGeom>
          <a:blipFill>
            <a:blip r:embed="rId2" cstate="print"/>
            <a:stretch>
              <a:fillRect/>
            </a:stretch>
          </a:blipFill>
        </p:spPr>
      </p:sp>
      <p:sp>
        <p:nvSpPr>
          <p:cNvPr id="3" name="TextBox 3"/>
          <p:cNvSpPr txBox="1"/>
          <p:nvPr/>
        </p:nvSpPr>
        <p:spPr>
          <a:xfrm>
            <a:off x="914400" y="4152900"/>
            <a:ext cx="5715000" cy="2308324"/>
          </a:xfrm>
          <a:prstGeom prst="rect">
            <a:avLst/>
          </a:prstGeom>
        </p:spPr>
        <p:txBody>
          <a:bodyPr wrap="square" lIns="0" tIns="0" rIns="0" bIns="0" rtlCol="0" anchor="t">
            <a:spAutoFit/>
          </a:bodyPr>
          <a:lstStyle/>
          <a:p>
            <a:pPr marL="0" lvl="0" indent="0" algn="ctr">
              <a:lnSpc>
                <a:spcPts val="8959"/>
              </a:lnSpc>
              <a:spcBef>
                <a:spcPct val="0"/>
              </a:spcBef>
            </a:pPr>
            <a:r>
              <a:rPr lang="en-US" sz="6399" b="1" i="1" u="sng" dirty="0" smtClean="0">
                <a:solidFill>
                  <a:srgbClr val="0F4662"/>
                </a:solidFill>
                <a:latin typeface="Cormorant Garamond Bold Italics"/>
                <a:ea typeface="Cormorant Garamond Bold Italics"/>
                <a:cs typeface="Cormorant Garamond Bold Italics"/>
                <a:sym typeface="Cormorant Garamond Bold Italics"/>
              </a:rPr>
              <a:t>SYSTEM ARCHITECTURE</a:t>
            </a:r>
            <a:endParaRPr lang="en-US" sz="6399" b="1" i="1" u="sng" dirty="0">
              <a:solidFill>
                <a:srgbClr val="0F4662"/>
              </a:solidFill>
              <a:latin typeface="Cormorant Garamond Bold Italics"/>
              <a:ea typeface="Cormorant Garamond Bold Italics"/>
              <a:cs typeface="Cormorant Garamond Bold Italics"/>
              <a:sym typeface="Cormorant Garamond Bold Itali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28700" y="599709"/>
            <a:ext cx="4012809" cy="1099019"/>
          </a:xfrm>
          <a:prstGeom prst="rect">
            <a:avLst/>
          </a:prstGeom>
        </p:spPr>
        <p:txBody>
          <a:bodyPr lIns="0" tIns="0" rIns="0" bIns="0" rtlCol="0" anchor="t">
            <a:spAutoFit/>
          </a:bodyPr>
          <a:lstStyle/>
          <a:p>
            <a:pPr marL="0" lvl="0" indent="0" algn="l">
              <a:lnSpc>
                <a:spcPts val="8959"/>
              </a:lnSpc>
              <a:spcBef>
                <a:spcPct val="0"/>
              </a:spcBef>
            </a:pPr>
            <a:r>
              <a:rPr lang="en-US" sz="6399" b="1" dirty="0" smtClean="0">
                <a:solidFill>
                  <a:srgbClr val="0F4662"/>
                </a:solidFill>
                <a:latin typeface="Cormorant Garamond Bold"/>
                <a:ea typeface="Cormorant Garamond Bold"/>
                <a:cs typeface="Cormorant Garamond Bold"/>
                <a:sym typeface="Cormorant Garamond Bold"/>
              </a:rPr>
              <a:t>MODULES</a:t>
            </a:r>
            <a:endParaRPr lang="en-US" sz="6399" b="1" dirty="0">
              <a:solidFill>
                <a:srgbClr val="0F4662"/>
              </a:solidFill>
              <a:latin typeface="Cormorant Garamond Bold"/>
              <a:ea typeface="Cormorant Garamond Bold"/>
              <a:cs typeface="Cormorant Garamond Bold"/>
              <a:sym typeface="Cormorant Garamond Bold"/>
            </a:endParaRPr>
          </a:p>
        </p:txBody>
      </p:sp>
      <p:sp>
        <p:nvSpPr>
          <p:cNvPr id="3" name="TextBox 3"/>
          <p:cNvSpPr txBox="1"/>
          <p:nvPr/>
        </p:nvSpPr>
        <p:spPr>
          <a:xfrm>
            <a:off x="2995358" y="2134502"/>
            <a:ext cx="5775756" cy="7123798"/>
          </a:xfrm>
          <a:prstGeom prst="rect">
            <a:avLst/>
          </a:prstGeom>
        </p:spPr>
        <p:txBody>
          <a:bodyPr lIns="0" tIns="0" rIns="0" bIns="0" rtlCol="0" anchor="t">
            <a:spAutoFit/>
          </a:bodyPr>
          <a:lstStyle/>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1. Deaf Companion System</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2. System User Dashboard</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 2.1. Admin</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 2.2. Deaf</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 2.2. Non-Deaf</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3. SignNet Model: Build and Train</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 3.1. Import Dataset</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 3.2. Preprocessing</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 3.3. Segmentation</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 3.4. Feature Extraction</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 3.4. Classification </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 3.5. Build and Train</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 3.6. Deploy Model</a:t>
            </a:r>
          </a:p>
        </p:txBody>
      </p:sp>
      <p:sp>
        <p:nvSpPr>
          <p:cNvPr id="4" name="TextBox 4"/>
          <p:cNvSpPr txBox="1"/>
          <p:nvPr/>
        </p:nvSpPr>
        <p:spPr>
          <a:xfrm>
            <a:off x="10024782" y="2134502"/>
            <a:ext cx="5785049" cy="3283530"/>
          </a:xfrm>
          <a:prstGeom prst="rect">
            <a:avLst/>
          </a:prstGeom>
        </p:spPr>
        <p:txBody>
          <a:bodyPr lIns="0" tIns="0" rIns="0" bIns="0" rtlCol="0" anchor="t">
            <a:spAutoFit/>
          </a:bodyPr>
          <a:lstStyle/>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4. Sign Language Recognition</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 4.1. Live Video with Sign</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 4.2. Recognize Sign</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 4.3. Multilanguage Interpretation</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5. Speech Recognition and Synthesis</a:t>
            </a:r>
          </a:p>
          <a:p>
            <a:pPr marL="0" lvl="0" indent="0" algn="just">
              <a:lnSpc>
                <a:spcPts val="4404"/>
              </a:lnSpc>
              <a:spcBef>
                <a:spcPct val="0"/>
              </a:spcBef>
            </a:pPr>
            <a:r>
              <a:rPr lang="en-US" sz="2590" b="1" u="none" strike="noStrike">
                <a:solidFill>
                  <a:srgbClr val="0F4662"/>
                </a:solidFill>
                <a:latin typeface="Quicksand Bold"/>
                <a:ea typeface="Quicksand Bold"/>
                <a:cs typeface="Quicksand Bold"/>
                <a:sym typeface="Quicksand Bold"/>
              </a:rPr>
              <a:t>6. Avatar Generation</a:t>
            </a:r>
          </a:p>
        </p:txBody>
      </p:sp>
      <p:sp>
        <p:nvSpPr>
          <p:cNvPr id="5" name="AutoShape 5"/>
          <p:cNvSpPr/>
          <p:nvPr/>
        </p:nvSpPr>
        <p:spPr>
          <a:xfrm flipH="1">
            <a:off x="9144000" y="2135669"/>
            <a:ext cx="19050" cy="7122631"/>
          </a:xfrm>
          <a:prstGeom prst="line">
            <a:avLst/>
          </a:prstGeom>
          <a:ln w="76200" cap="flat">
            <a:solidFill>
              <a:srgbClr val="000000"/>
            </a:solidFill>
            <a:prstDash val="solid"/>
            <a:headEnd type="none" w="sm" len="sm"/>
            <a:tailEnd type="none" w="sm" len="sm"/>
          </a:ln>
        </p:spPr>
      </p:sp>
      <p:sp>
        <p:nvSpPr>
          <p:cNvPr id="6" name="Freeform 6"/>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28700" y="599709"/>
            <a:ext cx="8115300" cy="1085215"/>
          </a:xfrm>
          <a:prstGeom prst="rect">
            <a:avLst/>
          </a:prstGeom>
        </p:spPr>
        <p:txBody>
          <a:bodyPr lIns="0" tIns="0" rIns="0" bIns="0" rtlCol="0" anchor="t">
            <a:spAutoFit/>
          </a:bodyPr>
          <a:lstStyle/>
          <a:p>
            <a:pPr marL="1381759" lvl="1" indent="-690880" algn="l">
              <a:lnSpc>
                <a:spcPts val="8959"/>
              </a:lnSpc>
              <a:buAutoNum type="arabicPeriod"/>
            </a:pPr>
            <a:r>
              <a:rPr lang="en-US" sz="6399" b="1">
                <a:solidFill>
                  <a:srgbClr val="0F4662"/>
                </a:solidFill>
                <a:latin typeface="Cormorant Garamond Bold"/>
                <a:ea typeface="Cormorant Garamond Bold"/>
                <a:cs typeface="Cormorant Garamond Bold"/>
                <a:sym typeface="Cormorant Garamond Bold"/>
              </a:rPr>
              <a:t>SignMeet Web App</a:t>
            </a:r>
          </a:p>
        </p:txBody>
      </p:sp>
      <p:sp>
        <p:nvSpPr>
          <p:cNvPr id="3" name="TextBox 3"/>
          <p:cNvSpPr txBox="1"/>
          <p:nvPr/>
        </p:nvSpPr>
        <p:spPr>
          <a:xfrm>
            <a:off x="1028700" y="2583965"/>
            <a:ext cx="16230600" cy="6932852"/>
          </a:xfrm>
          <a:prstGeom prst="rect">
            <a:avLst/>
          </a:prstGeom>
        </p:spPr>
        <p:txBody>
          <a:bodyPr lIns="0" tIns="0" rIns="0" bIns="0" rtlCol="0" anchor="t">
            <a:spAutoFit/>
          </a:bodyPr>
          <a:lstStyle/>
          <a:p>
            <a:pPr marL="587514" lvl="1" indent="-293757" algn="just">
              <a:lnSpc>
                <a:spcPts val="4626"/>
              </a:lnSpc>
              <a:buFont typeface="Arial"/>
              <a:buChar char="•"/>
            </a:pPr>
            <a:r>
              <a:rPr lang="en-US" sz="2721" b="1" u="none" strike="noStrike">
                <a:solidFill>
                  <a:srgbClr val="0F4662"/>
                </a:solidFill>
                <a:latin typeface="Quicksand Bold"/>
                <a:ea typeface="Quicksand Bold"/>
                <a:cs typeface="Quicksand Bold"/>
                <a:sym typeface="Quicksand Bold"/>
              </a:rPr>
              <a:t>The SignMeet Web App is designed to provide a groundbreaking solution for individuals with hearing and mute disabilities in virtual meeting platforms. </a:t>
            </a:r>
          </a:p>
          <a:p>
            <a:pPr marL="587514" lvl="1" indent="-293757" algn="just">
              <a:lnSpc>
                <a:spcPts val="4626"/>
              </a:lnSpc>
              <a:buFont typeface="Arial"/>
              <a:buChar char="•"/>
            </a:pPr>
            <a:r>
              <a:rPr lang="en-US" sz="2721" b="1" u="none" strike="noStrike">
                <a:solidFill>
                  <a:srgbClr val="0F4662"/>
                </a:solidFill>
                <a:latin typeface="Quicksand Bold"/>
                <a:ea typeface="Quicksand Bold"/>
                <a:cs typeface="Quicksand Bold"/>
                <a:sym typeface="Quicksand Bold"/>
              </a:rPr>
              <a:t>he User Authentication module establishes secure access, while the Dashboard serves as a central hub for seamless navigation. </a:t>
            </a:r>
          </a:p>
          <a:p>
            <a:pPr marL="587514" lvl="1" indent="-293757" algn="just">
              <a:lnSpc>
                <a:spcPts val="4626"/>
              </a:lnSpc>
              <a:buFont typeface="Arial"/>
              <a:buChar char="•"/>
            </a:pPr>
            <a:r>
              <a:rPr lang="en-US" sz="2721" b="1" u="none" strike="noStrike">
                <a:solidFill>
                  <a:srgbClr val="0F4662"/>
                </a:solidFill>
                <a:latin typeface="Quicksand Bold"/>
                <a:ea typeface="Quicksand Bold"/>
                <a:cs typeface="Quicksand Bold"/>
                <a:sym typeface="Quicksand Bold"/>
              </a:rPr>
              <a:t>The Sign Language Recognition interface allows users to input gestures for real-time interpretation, complemented by the Speech-to-Text interface for comprehensive communication. </a:t>
            </a:r>
          </a:p>
          <a:p>
            <a:pPr marL="587514" lvl="1" indent="-293757" algn="just">
              <a:lnSpc>
                <a:spcPts val="4626"/>
              </a:lnSpc>
              <a:buFont typeface="Arial"/>
              <a:buChar char="•"/>
            </a:pPr>
            <a:r>
              <a:rPr lang="en-US" sz="2721" b="1" u="none" strike="noStrike">
                <a:solidFill>
                  <a:srgbClr val="0F4662"/>
                </a:solidFill>
                <a:latin typeface="Quicksand Bold"/>
                <a:ea typeface="Quicksand Bold"/>
                <a:cs typeface="Quicksand Bold"/>
                <a:sym typeface="Quicksand Bold"/>
              </a:rPr>
              <a:t>The Avatar Customization module enables personalization, and language, cultural, and accessibility settings enhance adaptability. </a:t>
            </a:r>
          </a:p>
          <a:p>
            <a:pPr marL="587514" lvl="1" indent="-293757" algn="just">
              <a:lnSpc>
                <a:spcPts val="4626"/>
              </a:lnSpc>
              <a:buFont typeface="Arial"/>
              <a:buChar char="•"/>
            </a:pPr>
            <a:r>
              <a:rPr lang="en-US" sz="2721" b="1" u="none" strike="noStrike">
                <a:solidFill>
                  <a:srgbClr val="0F4662"/>
                </a:solidFill>
                <a:latin typeface="Quicksand Bold"/>
                <a:ea typeface="Quicksand Bold"/>
                <a:cs typeface="Quicksand Bold"/>
                <a:sym typeface="Quicksand Bold"/>
              </a:rPr>
              <a:t>The Admin Dashboard provides tools for training model, monitoring and system management. This design ensures a holistic and accessible platform for individuals with hearing and mute disabilities.</a:t>
            </a:r>
          </a:p>
        </p:txBody>
      </p:sp>
      <p:sp>
        <p:nvSpPr>
          <p:cNvPr id="4" name="Freeform 4"/>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3" name="TextBox 3"/>
          <p:cNvSpPr txBox="1"/>
          <p:nvPr/>
        </p:nvSpPr>
        <p:spPr>
          <a:xfrm>
            <a:off x="577643" y="428942"/>
            <a:ext cx="5761473" cy="1085215"/>
          </a:xfrm>
          <a:prstGeom prst="rect">
            <a:avLst/>
          </a:prstGeom>
        </p:spPr>
        <p:txBody>
          <a:bodyPr lIns="0" tIns="0" rIns="0" bIns="0" rtlCol="0" anchor="t">
            <a:spAutoFit/>
          </a:bodyPr>
          <a:lstStyle/>
          <a:p>
            <a:pPr algn="l">
              <a:lnSpc>
                <a:spcPts val="8959"/>
              </a:lnSpc>
            </a:pPr>
            <a:r>
              <a:rPr lang="en-US" sz="6399" b="1" i="1">
                <a:solidFill>
                  <a:srgbClr val="0F4662"/>
                </a:solidFill>
                <a:latin typeface="Cormorant Garamond Bold Italics"/>
                <a:ea typeface="Cormorant Garamond Bold Italics"/>
                <a:cs typeface="Cormorant Garamond Bold Italics"/>
                <a:sym typeface="Cormorant Garamond Bold Italics"/>
              </a:rPr>
              <a:t>Sample Screenshot</a:t>
            </a:r>
          </a:p>
        </p:txBody>
      </p:sp>
      <p:pic>
        <p:nvPicPr>
          <p:cNvPr id="4" name="Picture 3">
            <a:extLst>
              <a:ext uri="{FF2B5EF4-FFF2-40B4-BE49-F238E27FC236}">
                <a16:creationId xmlns:a16="http://schemas.microsoft.com/office/drawing/2014/main" xmlns="" id="{AD732C3F-54A6-35E5-36B5-BEDEBA8F1357}"/>
              </a:ext>
            </a:extLst>
          </p:cNvPr>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77643" y="1943100"/>
            <a:ext cx="17100757" cy="7894844"/>
          </a:xfrm>
          <a:prstGeom prst="rect">
            <a:avLst/>
          </a:prstGeom>
          <a:noFill/>
          <a:ln w="12700">
            <a:solidFill>
              <a:schemeClr val="tx1"/>
            </a:solidFill>
            <a:prstDash val="soli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28700" y="599709"/>
            <a:ext cx="8115300" cy="1085215"/>
          </a:xfrm>
          <a:prstGeom prst="rect">
            <a:avLst/>
          </a:prstGeom>
        </p:spPr>
        <p:txBody>
          <a:bodyPr lIns="0" tIns="0" rIns="0" bIns="0" rtlCol="0" anchor="t">
            <a:spAutoFit/>
          </a:bodyPr>
          <a:lstStyle/>
          <a:p>
            <a:pPr algn="l">
              <a:lnSpc>
                <a:spcPts val="8959"/>
              </a:lnSpc>
            </a:pPr>
            <a:r>
              <a:rPr lang="en-US" sz="6399" b="1" i="1">
                <a:solidFill>
                  <a:srgbClr val="0F4662"/>
                </a:solidFill>
                <a:latin typeface="Cormorant Garamond Bold Italics"/>
                <a:ea typeface="Cormorant Garamond Bold Italics"/>
                <a:cs typeface="Cormorant Garamond Bold Italics"/>
                <a:sym typeface="Cormorant Garamond Bold Italics"/>
              </a:rPr>
              <a:t>2. System User Dashboard</a:t>
            </a:r>
          </a:p>
        </p:txBody>
      </p:sp>
      <p:sp>
        <p:nvSpPr>
          <p:cNvPr id="3" name="TextBox 3"/>
          <p:cNvSpPr txBox="1"/>
          <p:nvPr/>
        </p:nvSpPr>
        <p:spPr>
          <a:xfrm>
            <a:off x="1066800" y="2171700"/>
            <a:ext cx="16230600" cy="7571303"/>
          </a:xfrm>
          <a:prstGeom prst="rect">
            <a:avLst/>
          </a:prstGeom>
        </p:spPr>
        <p:txBody>
          <a:bodyPr lIns="0" tIns="0" rIns="0" bIns="0" rtlCol="0" anchor="t">
            <a:spAutoFit/>
          </a:bodyPr>
          <a:lstStyle/>
          <a:p>
            <a:pPr algn="just">
              <a:lnSpc>
                <a:spcPct val="150000"/>
              </a:lnSpc>
            </a:pPr>
            <a:r>
              <a:rPr lang="en-US" sz="3600" b="1" dirty="0">
                <a:solidFill>
                  <a:srgbClr val="0F4662"/>
                </a:solidFill>
                <a:latin typeface="Quicksand Bold"/>
                <a:ea typeface="Quicksand Bold"/>
                <a:cs typeface="Quicksand Bold"/>
                <a:sym typeface="Quicksand Bold"/>
              </a:rPr>
              <a:t>2.1.</a:t>
            </a:r>
            <a:r>
              <a:rPr lang="en-US" sz="3600" b="1" u="none" strike="noStrike" dirty="0">
                <a:solidFill>
                  <a:srgbClr val="0F4662"/>
                </a:solidFill>
                <a:latin typeface="Quicksand Bold"/>
                <a:ea typeface="Quicksand Bold"/>
                <a:cs typeface="Quicksand Bold"/>
                <a:sym typeface="Quicksand Bold"/>
              </a:rPr>
              <a:t> </a:t>
            </a:r>
            <a:r>
              <a:rPr lang="en-US" sz="3600" b="1" u="none" strike="noStrike" dirty="0" smtClean="0">
                <a:solidFill>
                  <a:srgbClr val="0F4662"/>
                </a:solidFill>
                <a:latin typeface="Quicksand Bold"/>
                <a:ea typeface="Quicksand Bold"/>
                <a:cs typeface="Quicksand Bold"/>
                <a:sym typeface="Quicksand Bold"/>
              </a:rPr>
              <a:t>Admin</a:t>
            </a:r>
          </a:p>
          <a:p>
            <a:pPr algn="just"/>
            <a:endParaRPr lang="en-US" sz="3600" b="1" u="none" strike="noStrike" dirty="0">
              <a:solidFill>
                <a:srgbClr val="0F4662"/>
              </a:solidFill>
              <a:latin typeface="Quicksand Bold"/>
              <a:ea typeface="Quicksand Bold"/>
              <a:cs typeface="Quicksand Bold"/>
              <a:sym typeface="Quicksand Bold"/>
            </a:endParaRPr>
          </a:p>
          <a:p>
            <a:pPr algn="just">
              <a:lnSpc>
                <a:spcPct val="150000"/>
              </a:lnSpc>
            </a:pPr>
            <a:r>
              <a:rPr lang="en-US" sz="3200" b="1" u="none" strike="noStrike" dirty="0">
                <a:solidFill>
                  <a:srgbClr val="0F4662"/>
                </a:solidFill>
                <a:latin typeface="Quicksand Bold"/>
                <a:ea typeface="Quicksand Bold"/>
                <a:cs typeface="Quicksand Bold"/>
                <a:sym typeface="Quicksand Bold"/>
              </a:rPr>
              <a:t>Login</a:t>
            </a:r>
          </a:p>
          <a:p>
            <a:pPr marL="587514" lvl="1" indent="-293757" algn="just">
              <a:lnSpc>
                <a:spcPct val="150000"/>
              </a:lnSpc>
              <a:buFont typeface="Arial"/>
              <a:buChar char="•"/>
            </a:pPr>
            <a:r>
              <a:rPr lang="en-US" sz="3200" u="none" strike="noStrike" dirty="0">
                <a:solidFill>
                  <a:srgbClr val="0F4662"/>
                </a:solidFill>
                <a:latin typeface="Quicksand"/>
                <a:ea typeface="Quicksand"/>
                <a:cs typeface="Quicksand"/>
                <a:sym typeface="Quicksand"/>
              </a:rPr>
              <a:t>Admin authentication for secure access to the system's administrative functions</a:t>
            </a:r>
            <a:r>
              <a:rPr lang="en-US" sz="3200" u="none" strike="noStrike" dirty="0" smtClean="0">
                <a:solidFill>
                  <a:srgbClr val="0F4662"/>
                </a:solidFill>
                <a:latin typeface="Quicksand"/>
                <a:ea typeface="Quicksand"/>
                <a:cs typeface="Quicksand"/>
                <a:sym typeface="Quicksand"/>
              </a:rPr>
              <a:t>.</a:t>
            </a:r>
            <a:endParaRPr lang="en-US" sz="3200" u="none" strike="noStrike" dirty="0">
              <a:solidFill>
                <a:srgbClr val="0F4662"/>
              </a:solidFill>
              <a:latin typeface="Quicksand"/>
              <a:ea typeface="Quicksand"/>
              <a:cs typeface="Quicksand"/>
              <a:sym typeface="Quicksand"/>
            </a:endParaRPr>
          </a:p>
          <a:p>
            <a:pPr algn="just">
              <a:lnSpc>
                <a:spcPct val="150000"/>
              </a:lnSpc>
            </a:pPr>
            <a:r>
              <a:rPr lang="en-US" sz="3200" b="1" u="none" strike="noStrike" dirty="0">
                <a:solidFill>
                  <a:srgbClr val="0F4662"/>
                </a:solidFill>
                <a:latin typeface="Quicksand Bold"/>
                <a:ea typeface="Quicksand Bold"/>
                <a:cs typeface="Quicksand Bold"/>
                <a:sym typeface="Quicksand Bold"/>
              </a:rPr>
              <a:t>Build and Train </a:t>
            </a:r>
            <a:r>
              <a:rPr lang="en-US" sz="3200" b="1" u="none" strike="noStrike" dirty="0" err="1">
                <a:solidFill>
                  <a:srgbClr val="0F4662"/>
                </a:solidFill>
                <a:latin typeface="Quicksand Bold"/>
                <a:ea typeface="Quicksand Bold"/>
                <a:cs typeface="Quicksand Bold"/>
                <a:sym typeface="Quicksand Bold"/>
              </a:rPr>
              <a:t>SignNet</a:t>
            </a:r>
            <a:r>
              <a:rPr lang="en-US" sz="3200" b="1" u="none" strike="noStrike" dirty="0">
                <a:solidFill>
                  <a:srgbClr val="0F4662"/>
                </a:solidFill>
                <a:latin typeface="Quicksand Bold"/>
                <a:ea typeface="Quicksand Bold"/>
                <a:cs typeface="Quicksand Bold"/>
                <a:sym typeface="Quicksand Bold"/>
              </a:rPr>
              <a:t> Model</a:t>
            </a:r>
          </a:p>
          <a:p>
            <a:pPr marL="587514" lvl="1" indent="-293757" algn="just">
              <a:lnSpc>
                <a:spcPct val="150000"/>
              </a:lnSpc>
              <a:buFont typeface="Arial"/>
              <a:buChar char="•"/>
            </a:pPr>
            <a:r>
              <a:rPr lang="en-US" sz="3200" u="none" strike="noStrike" dirty="0">
                <a:solidFill>
                  <a:srgbClr val="0F4662"/>
                </a:solidFill>
                <a:latin typeface="Quicksand"/>
                <a:ea typeface="Quicksand"/>
                <a:cs typeface="Quicksand"/>
                <a:sym typeface="Quicksand"/>
              </a:rPr>
              <a:t>Dedicated functionality for the admin to initiate the building and training process of the </a:t>
            </a:r>
            <a:r>
              <a:rPr lang="en-US" sz="3200" u="none" strike="noStrike" dirty="0" err="1">
                <a:solidFill>
                  <a:srgbClr val="0F4662"/>
                </a:solidFill>
                <a:latin typeface="Quicksand"/>
                <a:ea typeface="Quicksand"/>
                <a:cs typeface="Quicksand"/>
                <a:sym typeface="Quicksand"/>
              </a:rPr>
              <a:t>SignNet</a:t>
            </a:r>
            <a:r>
              <a:rPr lang="en-US" sz="3200" u="none" strike="noStrike" dirty="0">
                <a:solidFill>
                  <a:srgbClr val="0F4662"/>
                </a:solidFill>
                <a:latin typeface="Quicksand"/>
                <a:ea typeface="Quicksand"/>
                <a:cs typeface="Quicksand"/>
                <a:sym typeface="Quicksand"/>
              </a:rPr>
              <a:t> Model</a:t>
            </a:r>
            <a:r>
              <a:rPr lang="en-US" sz="3200" u="none" strike="noStrike" dirty="0" smtClean="0">
                <a:solidFill>
                  <a:srgbClr val="0F4662"/>
                </a:solidFill>
                <a:latin typeface="Quicksand"/>
                <a:ea typeface="Quicksand"/>
                <a:cs typeface="Quicksand"/>
                <a:sym typeface="Quicksand"/>
              </a:rPr>
              <a:t>.</a:t>
            </a:r>
            <a:endParaRPr lang="en-US" sz="3200" u="none" strike="noStrike" dirty="0">
              <a:solidFill>
                <a:srgbClr val="0F4662"/>
              </a:solidFill>
              <a:latin typeface="Quicksand"/>
              <a:ea typeface="Quicksand"/>
              <a:cs typeface="Quicksand"/>
              <a:sym typeface="Quicksand"/>
            </a:endParaRPr>
          </a:p>
          <a:p>
            <a:pPr algn="just">
              <a:lnSpc>
                <a:spcPct val="150000"/>
              </a:lnSpc>
            </a:pPr>
            <a:r>
              <a:rPr lang="en-US" sz="3200" b="1" u="none" strike="noStrike" dirty="0">
                <a:solidFill>
                  <a:srgbClr val="0F4662"/>
                </a:solidFill>
                <a:latin typeface="Quicksand Bold"/>
                <a:ea typeface="Quicksand Bold"/>
                <a:cs typeface="Quicksand Bold"/>
                <a:sym typeface="Quicksand Bold"/>
              </a:rPr>
              <a:t>User Management</a:t>
            </a:r>
          </a:p>
          <a:p>
            <a:pPr marL="587514" lvl="1" indent="-293757" algn="just">
              <a:lnSpc>
                <a:spcPct val="150000"/>
              </a:lnSpc>
              <a:buFont typeface="Arial"/>
              <a:buChar char="•"/>
            </a:pPr>
            <a:r>
              <a:rPr lang="en-US" sz="3200" u="none" strike="noStrike" dirty="0">
                <a:solidFill>
                  <a:srgbClr val="0F4662"/>
                </a:solidFill>
                <a:latin typeface="Quicksand"/>
                <a:ea typeface="Quicksand"/>
                <a:cs typeface="Quicksand"/>
                <a:sym typeface="Quicksand"/>
              </a:rPr>
              <a:t>Admin-exclusive capabilities to manage user profiles, permissions, and system maintenance tasks.</a:t>
            </a:r>
          </a:p>
        </p:txBody>
      </p:sp>
      <p:sp>
        <p:nvSpPr>
          <p:cNvPr id="4" name="Freeform 4"/>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825546" y="402076"/>
            <a:ext cx="16636909" cy="10092506"/>
          </a:xfrm>
          <a:prstGeom prst="rect">
            <a:avLst/>
          </a:prstGeom>
        </p:spPr>
        <p:txBody>
          <a:bodyPr lIns="0" tIns="0" rIns="0" bIns="0" rtlCol="0" anchor="t">
            <a:spAutoFit/>
          </a:bodyPr>
          <a:lstStyle/>
          <a:p>
            <a:pPr algn="just">
              <a:lnSpc>
                <a:spcPts val="5009"/>
              </a:lnSpc>
            </a:pPr>
            <a:r>
              <a:rPr lang="en-US" sz="3600" b="1" dirty="0" smtClean="0">
                <a:solidFill>
                  <a:srgbClr val="0F4662"/>
                </a:solidFill>
                <a:latin typeface="Quicksand Bold"/>
                <a:ea typeface="Quicksand Bold"/>
                <a:cs typeface="Quicksand Bold"/>
                <a:sym typeface="Quicksand Bold"/>
              </a:rPr>
              <a:t>2.2.</a:t>
            </a:r>
            <a:r>
              <a:rPr lang="en-US" sz="3600" b="1" u="none" strike="noStrike" dirty="0" smtClean="0">
                <a:solidFill>
                  <a:srgbClr val="0F4662"/>
                </a:solidFill>
                <a:latin typeface="Quicksand Bold"/>
                <a:ea typeface="Quicksand Bold"/>
                <a:cs typeface="Quicksand Bold"/>
                <a:sym typeface="Quicksand Bold"/>
              </a:rPr>
              <a:t> Deaf User</a:t>
            </a:r>
          </a:p>
          <a:p>
            <a:pPr algn="just">
              <a:lnSpc>
                <a:spcPts val="3865"/>
              </a:lnSpc>
            </a:pPr>
            <a:endParaRPr lang="en-US" sz="3600" b="1" u="none" strike="noStrike" dirty="0" smtClean="0">
              <a:solidFill>
                <a:srgbClr val="0F4662"/>
              </a:solidFill>
              <a:latin typeface="Quicksand Bold"/>
              <a:ea typeface="Quicksand Bold"/>
              <a:cs typeface="Quicksand Bold"/>
              <a:sym typeface="Quicksand Bold"/>
            </a:endParaRPr>
          </a:p>
          <a:p>
            <a:pPr algn="just">
              <a:lnSpc>
                <a:spcPts val="4519"/>
              </a:lnSpc>
            </a:pPr>
            <a:r>
              <a:rPr lang="en-US" sz="3200" b="1" u="none" strike="noStrike" dirty="0" smtClean="0">
                <a:solidFill>
                  <a:srgbClr val="0F4662"/>
                </a:solidFill>
                <a:latin typeface="Quicksand Bold"/>
                <a:ea typeface="Quicksand Bold"/>
                <a:cs typeface="Quicksand Bold"/>
                <a:sym typeface="Quicksand Bold"/>
              </a:rPr>
              <a:t>Show Sign into the Webcam</a:t>
            </a:r>
          </a:p>
          <a:p>
            <a:pPr algn="just">
              <a:lnSpc>
                <a:spcPts val="3865"/>
              </a:lnSpc>
            </a:pPr>
            <a:r>
              <a:rPr lang="en-US" sz="2800" u="none" strike="noStrike" dirty="0" smtClean="0">
                <a:solidFill>
                  <a:srgbClr val="0F4662"/>
                </a:solidFill>
                <a:latin typeface="Quicksand"/>
                <a:ea typeface="Quicksand"/>
                <a:cs typeface="Quicksand"/>
                <a:sym typeface="Quicksand"/>
              </a:rPr>
              <a:t>User interface allowing deaf individuals to display sign language gestures through their webcam for real-time interpretation</a:t>
            </a:r>
            <a:r>
              <a:rPr lang="en-US" sz="2800" b="1" u="none" strike="noStrike" dirty="0" smtClean="0">
                <a:solidFill>
                  <a:srgbClr val="0F4662"/>
                </a:solidFill>
                <a:latin typeface="Quicksand Bold"/>
                <a:ea typeface="Quicksand Bold"/>
                <a:cs typeface="Quicksand Bold"/>
                <a:sym typeface="Quicksand Bold"/>
              </a:rPr>
              <a:t>. </a:t>
            </a:r>
          </a:p>
          <a:p>
            <a:pPr algn="just">
              <a:lnSpc>
                <a:spcPts val="3865"/>
              </a:lnSpc>
            </a:pPr>
            <a:endParaRPr lang="en-US" sz="2800" b="1" u="none" strike="noStrike" dirty="0" smtClean="0">
              <a:solidFill>
                <a:srgbClr val="0F4662"/>
              </a:solidFill>
              <a:latin typeface="Quicksand Bold"/>
              <a:ea typeface="Quicksand Bold"/>
              <a:cs typeface="Quicksand Bold"/>
              <a:sym typeface="Quicksand Bold"/>
            </a:endParaRPr>
          </a:p>
          <a:p>
            <a:pPr algn="just">
              <a:lnSpc>
                <a:spcPts val="4519"/>
              </a:lnSpc>
            </a:pPr>
            <a:r>
              <a:rPr lang="en-US" sz="3200" b="1" u="none" strike="noStrike" dirty="0" smtClean="0">
                <a:solidFill>
                  <a:srgbClr val="0F4662"/>
                </a:solidFill>
                <a:latin typeface="Quicksand Bold"/>
                <a:ea typeface="Quicksand Bold"/>
                <a:cs typeface="Quicksand Bold"/>
                <a:sym typeface="Quicksand Bold"/>
              </a:rPr>
              <a:t>Deaf View Avatar with Predicted Sign</a:t>
            </a:r>
          </a:p>
          <a:p>
            <a:pPr algn="just">
              <a:lnSpc>
                <a:spcPts val="3865"/>
              </a:lnSpc>
            </a:pPr>
            <a:r>
              <a:rPr lang="en-US" sz="2800" u="none" strike="noStrike" dirty="0" smtClean="0">
                <a:solidFill>
                  <a:srgbClr val="0F4662"/>
                </a:solidFill>
                <a:latin typeface="Quicksand"/>
                <a:ea typeface="Quicksand"/>
                <a:cs typeface="Quicksand"/>
                <a:sym typeface="Quicksand"/>
              </a:rPr>
              <a:t>Deaf users receive visual representation through avatars synchronized with the predicted sign language gestures based on the spoken words.</a:t>
            </a:r>
          </a:p>
          <a:p>
            <a:pPr algn="just">
              <a:lnSpc>
                <a:spcPts val="3865"/>
              </a:lnSpc>
            </a:pPr>
            <a:endParaRPr lang="en-US" sz="2800" u="none" strike="noStrike" dirty="0" smtClean="0">
              <a:solidFill>
                <a:srgbClr val="0F4662"/>
              </a:solidFill>
              <a:latin typeface="Quicksand"/>
              <a:ea typeface="Quicksand"/>
              <a:cs typeface="Quicksand"/>
              <a:sym typeface="Quicksand"/>
            </a:endParaRPr>
          </a:p>
          <a:p>
            <a:pPr algn="just">
              <a:lnSpc>
                <a:spcPts val="5009"/>
              </a:lnSpc>
            </a:pPr>
            <a:r>
              <a:rPr lang="en-US" sz="3600" b="1" u="none" strike="noStrike" dirty="0" smtClean="0">
                <a:solidFill>
                  <a:srgbClr val="0F4662"/>
                </a:solidFill>
                <a:latin typeface="Quicksand Bold"/>
                <a:ea typeface="Quicksand Bold"/>
                <a:cs typeface="Quicksand Bold"/>
                <a:sym typeface="Quicksand Bold"/>
              </a:rPr>
              <a:t>2.3. Non-Deaf User</a:t>
            </a:r>
          </a:p>
          <a:p>
            <a:pPr algn="just">
              <a:lnSpc>
                <a:spcPts val="3865"/>
              </a:lnSpc>
            </a:pPr>
            <a:endParaRPr lang="en-US" sz="3600" b="1" u="none" strike="noStrike" dirty="0" smtClean="0">
              <a:solidFill>
                <a:srgbClr val="0F4662"/>
              </a:solidFill>
              <a:latin typeface="Quicksand Bold"/>
              <a:ea typeface="Quicksand Bold"/>
              <a:cs typeface="Quicksand Bold"/>
              <a:sym typeface="Quicksand Bold"/>
            </a:endParaRPr>
          </a:p>
          <a:p>
            <a:pPr algn="just">
              <a:lnSpc>
                <a:spcPts val="4519"/>
              </a:lnSpc>
            </a:pPr>
            <a:r>
              <a:rPr lang="en-US" sz="3200" b="1" u="none" strike="noStrike" dirty="0" smtClean="0">
                <a:solidFill>
                  <a:srgbClr val="0F4662"/>
                </a:solidFill>
                <a:latin typeface="Quicksand Bold"/>
                <a:ea typeface="Quicksand Bold"/>
                <a:cs typeface="Quicksand Bold"/>
                <a:sym typeface="Quicksand Bold"/>
              </a:rPr>
              <a:t>Speak Using </a:t>
            </a:r>
            <a:r>
              <a:rPr lang="en-US" sz="3200" b="1" u="none" strike="noStrike" dirty="0" err="1" smtClean="0">
                <a:solidFill>
                  <a:srgbClr val="0F4662"/>
                </a:solidFill>
                <a:latin typeface="Quicksand Bold"/>
                <a:ea typeface="Quicksand Bold"/>
                <a:cs typeface="Quicksand Bold"/>
                <a:sym typeface="Quicksand Bold"/>
              </a:rPr>
              <a:t>Mic</a:t>
            </a:r>
            <a:endParaRPr lang="en-US" sz="3200" b="1" u="none" strike="noStrike" dirty="0" smtClean="0">
              <a:solidFill>
                <a:srgbClr val="0F4662"/>
              </a:solidFill>
              <a:latin typeface="Quicksand Bold"/>
              <a:ea typeface="Quicksand Bold"/>
              <a:cs typeface="Quicksand Bold"/>
              <a:sym typeface="Quicksand Bold"/>
            </a:endParaRPr>
          </a:p>
          <a:p>
            <a:pPr algn="just">
              <a:lnSpc>
                <a:spcPts val="3865"/>
              </a:lnSpc>
            </a:pPr>
            <a:r>
              <a:rPr lang="en-US" sz="2800" u="none" strike="noStrike" dirty="0" smtClean="0">
                <a:solidFill>
                  <a:srgbClr val="0F4662"/>
                </a:solidFill>
                <a:latin typeface="Quicksand"/>
                <a:ea typeface="Quicksand"/>
                <a:cs typeface="Quicksand"/>
                <a:sym typeface="Quicksand"/>
              </a:rPr>
              <a:t>User interface enabling non-deaf individuals to communicate verbally using a microphone. </a:t>
            </a:r>
          </a:p>
          <a:p>
            <a:pPr algn="just">
              <a:lnSpc>
                <a:spcPts val="3865"/>
              </a:lnSpc>
            </a:pPr>
            <a:endParaRPr lang="en-US" sz="2800" u="none" strike="noStrike" dirty="0" smtClean="0">
              <a:solidFill>
                <a:srgbClr val="0F4662"/>
              </a:solidFill>
              <a:latin typeface="Quicksand"/>
              <a:ea typeface="Quicksand"/>
              <a:cs typeface="Quicksand"/>
              <a:sym typeface="Quicksand"/>
            </a:endParaRPr>
          </a:p>
          <a:p>
            <a:pPr algn="just">
              <a:lnSpc>
                <a:spcPts val="4519"/>
              </a:lnSpc>
            </a:pPr>
            <a:r>
              <a:rPr lang="en-US" sz="3200" b="1" u="none" strike="noStrike" dirty="0" smtClean="0">
                <a:solidFill>
                  <a:srgbClr val="0F4662"/>
                </a:solidFill>
                <a:latin typeface="Quicksand Bold"/>
                <a:ea typeface="Quicksand Bold"/>
                <a:cs typeface="Quicksand Bold"/>
                <a:sym typeface="Quicksand Bold"/>
              </a:rPr>
              <a:t>Non-Deaf Receive</a:t>
            </a:r>
          </a:p>
          <a:p>
            <a:pPr algn="just">
              <a:lnSpc>
                <a:spcPts val="3865"/>
              </a:lnSpc>
            </a:pPr>
            <a:r>
              <a:rPr lang="en-US" sz="2800" u="none" strike="noStrike" dirty="0" smtClean="0">
                <a:solidFill>
                  <a:srgbClr val="0F4662"/>
                </a:solidFill>
                <a:latin typeface="Quicksand"/>
                <a:ea typeface="Quicksand"/>
                <a:cs typeface="Quicksand"/>
                <a:sym typeface="Quicksand"/>
              </a:rPr>
              <a:t>View text representations and hear voice outputs corresponding to the predicted sign language gesture.</a:t>
            </a:r>
          </a:p>
          <a:p>
            <a:pPr algn="just">
              <a:lnSpc>
                <a:spcPts val="3865"/>
              </a:lnSpc>
            </a:pPr>
            <a:endParaRPr lang="en-US" sz="2273" u="none" strike="noStrike" dirty="0">
              <a:solidFill>
                <a:srgbClr val="0F4662"/>
              </a:solidFill>
              <a:latin typeface="Quicksand"/>
              <a:ea typeface="Quicksand"/>
              <a:cs typeface="Quicksand"/>
              <a:sym typeface="Quicksan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F375D9CC-7B5B-BDD0-6E41-4D525334DF59}"/>
              </a:ext>
            </a:extLst>
          </p:cNvPr>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14400" y="952500"/>
            <a:ext cx="16459200" cy="8240541"/>
          </a:xfrm>
          <a:prstGeom prst="rect">
            <a:avLst/>
          </a:prstGeom>
          <a:noFill/>
          <a:ln w="12700">
            <a:solidFill>
              <a:schemeClr val="tx1"/>
            </a:solidFill>
            <a:prstDash val="soli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51361217-7FE0-7FC3-0004-2E3B9254F59F}"/>
              </a:ext>
            </a:extLst>
          </p:cNvPr>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44049" y="989565"/>
            <a:ext cx="15399901" cy="8307870"/>
          </a:xfrm>
          <a:prstGeom prst="rect">
            <a:avLst/>
          </a:prstGeom>
          <a:noFill/>
          <a:ln w="12700">
            <a:solidFill>
              <a:schemeClr val="tx1"/>
            </a:solidFill>
            <a:prstDash val="soli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79586DC0-4F14-FAAB-990D-241F387BF912}"/>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l="-1" r="-949" b="49988"/>
          <a:stretch/>
        </p:blipFill>
        <p:spPr bwMode="auto">
          <a:xfrm>
            <a:off x="475995" y="1104900"/>
            <a:ext cx="17126205" cy="7979447"/>
          </a:xfrm>
          <a:prstGeom prst="rect">
            <a:avLst/>
          </a:prstGeom>
          <a:noFill/>
          <a:ln w="12700">
            <a:solidFill>
              <a:schemeClr val="tx1"/>
            </a:solidFill>
            <a:prstDash val="solid"/>
          </a:ln>
          <a:extLst>
            <a:ext uri="{53640926-AAD7-44D8-BBD7-CCE9431645EC}">
              <a14:shadowObscured xmlns:a14="http://schemas.microsoft.com/office/drawing/2010/main" xmln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73501E9D-D878-52B1-4A73-035358B4B5FB}"/>
              </a:ext>
            </a:extLst>
          </p:cNvPr>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81506" y="1333500"/>
            <a:ext cx="15324988" cy="7620000"/>
          </a:xfrm>
          <a:prstGeom prst="rect">
            <a:avLst/>
          </a:prstGeom>
          <a:noFill/>
          <a:ln w="12700">
            <a:solidFill>
              <a:schemeClr val="tx1"/>
            </a:solidFill>
            <a:prstDash val="solid"/>
          </a:ln>
        </p:spPr>
      </p:pic>
    </p:spTree>
    <p:extLst>
      <p:ext uri="{BB962C8B-B14F-4D97-AF65-F5344CB8AC3E}">
        <p14:creationId xmlns:p14="http://schemas.microsoft.com/office/powerpoint/2010/main" xmlns="" val="37580096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28700" y="599709"/>
            <a:ext cx="10724978" cy="1085215"/>
          </a:xfrm>
          <a:prstGeom prst="rect">
            <a:avLst/>
          </a:prstGeom>
        </p:spPr>
        <p:txBody>
          <a:bodyPr lIns="0" tIns="0" rIns="0" bIns="0" rtlCol="0" anchor="t">
            <a:spAutoFit/>
          </a:bodyPr>
          <a:lstStyle/>
          <a:p>
            <a:pPr algn="l">
              <a:lnSpc>
                <a:spcPts val="8959"/>
              </a:lnSpc>
            </a:pPr>
            <a:r>
              <a:rPr lang="en-US" sz="6399" b="1" i="1" dirty="0">
                <a:solidFill>
                  <a:srgbClr val="0F4662"/>
                </a:solidFill>
                <a:latin typeface="Cormorant Garamond Bold Italics"/>
                <a:ea typeface="Cormorant Garamond Bold Italics"/>
                <a:cs typeface="Cormorant Garamond Bold Italics"/>
                <a:sym typeface="Cormorant Garamond Bold Italics"/>
              </a:rPr>
              <a:t>3. </a:t>
            </a:r>
            <a:r>
              <a:rPr lang="en-US" sz="6399" b="1" i="1" dirty="0" err="1">
                <a:solidFill>
                  <a:srgbClr val="0F4662"/>
                </a:solidFill>
                <a:latin typeface="Cormorant Garamond Bold Italics"/>
                <a:ea typeface="Cormorant Garamond Bold Italics"/>
                <a:cs typeface="Cormorant Garamond Bold Italics"/>
                <a:sym typeface="Cormorant Garamond Bold Italics"/>
              </a:rPr>
              <a:t>SignNet</a:t>
            </a:r>
            <a:r>
              <a:rPr lang="en-US" sz="6399" b="1" i="1" dirty="0">
                <a:solidFill>
                  <a:srgbClr val="0F4662"/>
                </a:solidFill>
                <a:latin typeface="Cormorant Garamond Bold Italics"/>
                <a:ea typeface="Cormorant Garamond Bold Italics"/>
                <a:cs typeface="Cormorant Garamond Bold Italics"/>
                <a:sym typeface="Cormorant Garamond Bold Italics"/>
              </a:rPr>
              <a:t> Model: Build and Train</a:t>
            </a:r>
          </a:p>
        </p:txBody>
      </p:sp>
      <p:sp>
        <p:nvSpPr>
          <p:cNvPr id="3" name="TextBox 3"/>
          <p:cNvSpPr txBox="1"/>
          <p:nvPr/>
        </p:nvSpPr>
        <p:spPr>
          <a:xfrm>
            <a:off x="838200" y="1943100"/>
            <a:ext cx="16687800" cy="8599790"/>
          </a:xfrm>
          <a:prstGeom prst="rect">
            <a:avLst/>
          </a:prstGeom>
        </p:spPr>
        <p:txBody>
          <a:bodyPr wrap="square" lIns="0" tIns="0" rIns="0" bIns="0" rtlCol="0" anchor="t">
            <a:spAutoFit/>
          </a:bodyPr>
          <a:lstStyle/>
          <a:p>
            <a:pPr algn="just">
              <a:lnSpc>
                <a:spcPct val="150000"/>
              </a:lnSpc>
            </a:pPr>
            <a:r>
              <a:rPr lang="en-US" sz="2600" dirty="0">
                <a:solidFill>
                  <a:srgbClr val="0F4662"/>
                </a:solidFill>
                <a:latin typeface="Quicksand"/>
                <a:ea typeface="Quicksand"/>
                <a:cs typeface="Quicksand"/>
                <a:sym typeface="Quicksand"/>
              </a:rPr>
              <a:t>In</a:t>
            </a:r>
            <a:r>
              <a:rPr lang="en-US" sz="2600" u="none" strike="noStrike" dirty="0">
                <a:solidFill>
                  <a:srgbClr val="0F4662"/>
                </a:solidFill>
                <a:latin typeface="Quicksand"/>
                <a:ea typeface="Quicksand"/>
                <a:cs typeface="Quicksand"/>
                <a:sym typeface="Quicksand"/>
              </a:rPr>
              <a:t> the process of building and training the </a:t>
            </a:r>
            <a:r>
              <a:rPr lang="en-US" sz="2600" u="none" strike="noStrike" dirty="0" err="1">
                <a:solidFill>
                  <a:srgbClr val="0F4662"/>
                </a:solidFill>
                <a:latin typeface="Quicksand"/>
                <a:ea typeface="Quicksand"/>
                <a:cs typeface="Quicksand"/>
                <a:sym typeface="Quicksand"/>
              </a:rPr>
              <a:t>SignNet</a:t>
            </a:r>
            <a:r>
              <a:rPr lang="en-US" sz="2600" u="none" strike="noStrike" dirty="0">
                <a:solidFill>
                  <a:srgbClr val="0F4662"/>
                </a:solidFill>
                <a:latin typeface="Quicksand"/>
                <a:ea typeface="Quicksand"/>
                <a:cs typeface="Quicksand"/>
                <a:sym typeface="Quicksand"/>
              </a:rPr>
              <a:t> Model for the Deaf Companion System, several essential steps are followed to ensure accuracy and effectiveness.</a:t>
            </a:r>
          </a:p>
          <a:p>
            <a:pPr algn="just"/>
            <a:endParaRPr lang="en-US" sz="2600" u="none" strike="noStrike" dirty="0">
              <a:solidFill>
                <a:srgbClr val="0F4662"/>
              </a:solidFill>
              <a:latin typeface="Quicksand"/>
              <a:ea typeface="Quicksand"/>
              <a:cs typeface="Quicksand"/>
              <a:sym typeface="Quicksand"/>
            </a:endParaRPr>
          </a:p>
          <a:p>
            <a:pPr algn="just">
              <a:lnSpc>
                <a:spcPct val="150000"/>
              </a:lnSpc>
            </a:pPr>
            <a:r>
              <a:rPr lang="en-US" sz="2600" b="1" u="none" strike="noStrike" dirty="0">
                <a:solidFill>
                  <a:srgbClr val="0F4662"/>
                </a:solidFill>
                <a:latin typeface="Quicksand Bold"/>
                <a:ea typeface="Quicksand Bold"/>
                <a:cs typeface="Quicksand Bold"/>
                <a:sym typeface="Quicksand Bold"/>
              </a:rPr>
              <a:t>3.1. Import Dataset</a:t>
            </a:r>
          </a:p>
          <a:p>
            <a:pPr algn="just">
              <a:lnSpc>
                <a:spcPct val="150000"/>
              </a:lnSpc>
            </a:pPr>
            <a:r>
              <a:rPr lang="en-US" sz="2600" u="none" strike="noStrike" dirty="0">
                <a:solidFill>
                  <a:srgbClr val="0F4662"/>
                </a:solidFill>
                <a:latin typeface="Quicksand"/>
                <a:ea typeface="Quicksand"/>
                <a:cs typeface="Quicksand"/>
                <a:sym typeface="Quicksand"/>
              </a:rPr>
              <a:t>In this initial phase, a diverse dataset is gathered and imported to serve as the foundational training data for the </a:t>
            </a:r>
            <a:r>
              <a:rPr lang="en-US" sz="2600" u="none" strike="noStrike" dirty="0" err="1">
                <a:solidFill>
                  <a:srgbClr val="0F4662"/>
                </a:solidFill>
                <a:latin typeface="Quicksand"/>
                <a:ea typeface="Quicksand"/>
                <a:cs typeface="Quicksand"/>
                <a:sym typeface="Quicksand"/>
              </a:rPr>
              <a:t>SignNet</a:t>
            </a:r>
            <a:r>
              <a:rPr lang="en-US" sz="2600" u="none" strike="noStrike" dirty="0">
                <a:solidFill>
                  <a:srgbClr val="0F4662"/>
                </a:solidFill>
                <a:latin typeface="Quicksand"/>
                <a:ea typeface="Quicksand"/>
                <a:cs typeface="Quicksand"/>
                <a:sym typeface="Quicksand"/>
              </a:rPr>
              <a:t> Model. This dataset comprises high-quality images representing various sign language gestures</a:t>
            </a:r>
            <a:r>
              <a:rPr lang="en-US" sz="2600" u="none" strike="noStrike" dirty="0" smtClean="0">
                <a:solidFill>
                  <a:srgbClr val="0F4662"/>
                </a:solidFill>
                <a:latin typeface="Quicksand"/>
                <a:ea typeface="Quicksand"/>
                <a:cs typeface="Quicksand"/>
                <a:sym typeface="Quicksand"/>
              </a:rPr>
              <a:t>.</a:t>
            </a:r>
            <a:endParaRPr lang="en-US" sz="2600" u="none" strike="noStrike" dirty="0">
              <a:solidFill>
                <a:srgbClr val="0F4662"/>
              </a:solidFill>
              <a:latin typeface="Quicksand"/>
              <a:ea typeface="Quicksand"/>
              <a:cs typeface="Quicksand"/>
              <a:sym typeface="Quicksand"/>
            </a:endParaRPr>
          </a:p>
          <a:p>
            <a:pPr algn="just">
              <a:lnSpc>
                <a:spcPct val="150000"/>
              </a:lnSpc>
            </a:pPr>
            <a:r>
              <a:rPr lang="en-US" sz="2600" b="1" u="none" strike="noStrike" dirty="0">
                <a:solidFill>
                  <a:srgbClr val="0F4662"/>
                </a:solidFill>
                <a:latin typeface="Quicksand Bold"/>
                <a:ea typeface="Quicksand Bold"/>
                <a:cs typeface="Quicksand Bold"/>
                <a:sym typeface="Quicksand Bold"/>
              </a:rPr>
              <a:t>3.2. Preprocessing</a:t>
            </a:r>
          </a:p>
          <a:p>
            <a:pPr algn="just">
              <a:lnSpc>
                <a:spcPct val="150000"/>
              </a:lnSpc>
            </a:pPr>
            <a:r>
              <a:rPr lang="en-US" sz="2600" u="none" strike="noStrike" dirty="0">
                <a:solidFill>
                  <a:srgbClr val="0F4662"/>
                </a:solidFill>
                <a:latin typeface="Quicksand"/>
                <a:ea typeface="Quicksand"/>
                <a:cs typeface="Quicksand"/>
                <a:sym typeface="Quicksand"/>
              </a:rPr>
              <a:t>This step involves a series of preprocessing tasks to enhance the dataset quality. It includes standardizing image dimensions, converting images to grayscale for simplicity, applying a Gabor Filter for noise reduction, and binarizing images to facilitate effective feature extraction</a:t>
            </a:r>
            <a:r>
              <a:rPr lang="en-US" sz="2600" u="none" strike="noStrike" dirty="0" smtClean="0">
                <a:solidFill>
                  <a:srgbClr val="0F4662"/>
                </a:solidFill>
                <a:latin typeface="Quicksand"/>
                <a:ea typeface="Quicksand"/>
                <a:cs typeface="Quicksand"/>
                <a:sym typeface="Quicksand"/>
              </a:rPr>
              <a:t>.</a:t>
            </a:r>
            <a:endParaRPr lang="en-US" sz="2600" u="none" strike="noStrike" dirty="0">
              <a:solidFill>
                <a:srgbClr val="0F4662"/>
              </a:solidFill>
              <a:latin typeface="Quicksand"/>
              <a:ea typeface="Quicksand"/>
              <a:cs typeface="Quicksand"/>
              <a:sym typeface="Quicksand"/>
            </a:endParaRPr>
          </a:p>
          <a:p>
            <a:pPr algn="just">
              <a:lnSpc>
                <a:spcPct val="150000"/>
              </a:lnSpc>
            </a:pPr>
            <a:r>
              <a:rPr lang="en-US" sz="2600" b="1" u="none" strike="noStrike" dirty="0">
                <a:solidFill>
                  <a:srgbClr val="0F4662"/>
                </a:solidFill>
                <a:latin typeface="Quicksand Bold"/>
                <a:ea typeface="Quicksand Bold"/>
                <a:cs typeface="Quicksand Bold"/>
                <a:sym typeface="Quicksand Bold"/>
              </a:rPr>
              <a:t>3.3. Segmentation</a:t>
            </a:r>
          </a:p>
          <a:p>
            <a:pPr algn="just">
              <a:lnSpc>
                <a:spcPct val="150000"/>
              </a:lnSpc>
            </a:pPr>
            <a:r>
              <a:rPr lang="en-US" sz="2600" u="none" strike="noStrike" dirty="0">
                <a:solidFill>
                  <a:srgbClr val="0F4662"/>
                </a:solidFill>
                <a:latin typeface="Quicksand"/>
                <a:ea typeface="Quicksand"/>
                <a:cs typeface="Quicksand"/>
                <a:sym typeface="Quicksand"/>
              </a:rPr>
              <a:t>Employing a Region Proposal Network (RPN), this step focuses on identifying and isolating distinct regions within the images. Segmentation is crucial for improving the model's ability to accurately recognize and interpret individual sign language gestures.</a:t>
            </a:r>
          </a:p>
          <a:p>
            <a:pPr marL="389948" lvl="1" indent="-194974" algn="just">
              <a:lnSpc>
                <a:spcPts val="3070"/>
              </a:lnSpc>
              <a:buFont typeface="Arial"/>
              <a:buChar char="•"/>
            </a:pPr>
            <a:endParaRPr lang="en-US" sz="2800" u="none" strike="noStrike" dirty="0">
              <a:solidFill>
                <a:srgbClr val="0F4662"/>
              </a:solidFill>
              <a:latin typeface="Quicksand"/>
              <a:ea typeface="Quicksand"/>
              <a:cs typeface="Quicksand"/>
              <a:sym typeface="Quicksand"/>
            </a:endParaRPr>
          </a:p>
        </p:txBody>
      </p:sp>
      <p:sp>
        <p:nvSpPr>
          <p:cNvPr id="4" name="Freeform 4"/>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28700" y="1095570"/>
            <a:ext cx="16230600" cy="8332281"/>
          </a:xfrm>
          <a:prstGeom prst="rect">
            <a:avLst/>
          </a:prstGeom>
        </p:spPr>
        <p:txBody>
          <a:bodyPr lIns="0" tIns="0" rIns="0" bIns="0" rtlCol="0" anchor="t">
            <a:spAutoFit/>
          </a:bodyPr>
          <a:lstStyle/>
          <a:p>
            <a:pPr algn="just">
              <a:lnSpc>
                <a:spcPct val="150000"/>
              </a:lnSpc>
              <a:spcBef>
                <a:spcPct val="0"/>
              </a:spcBef>
            </a:pPr>
            <a:r>
              <a:rPr lang="en-US" sz="2600" b="1" u="none" strike="noStrike" dirty="0">
                <a:solidFill>
                  <a:srgbClr val="0F4662"/>
                </a:solidFill>
                <a:latin typeface="Quicksand Bold"/>
                <a:ea typeface="Quicksand Bold"/>
                <a:cs typeface="Quicksand Bold"/>
                <a:sym typeface="Quicksand Bold"/>
              </a:rPr>
              <a:t>3.4. Feature Extraction</a:t>
            </a:r>
          </a:p>
          <a:p>
            <a:pPr algn="just">
              <a:lnSpc>
                <a:spcPct val="150000"/>
              </a:lnSpc>
              <a:spcBef>
                <a:spcPct val="0"/>
              </a:spcBef>
            </a:pPr>
            <a:r>
              <a:rPr lang="en-US" sz="2600" u="none" strike="noStrike" dirty="0">
                <a:solidFill>
                  <a:srgbClr val="0F4662"/>
                </a:solidFill>
                <a:latin typeface="Quicksand"/>
                <a:ea typeface="Quicksand"/>
                <a:cs typeface="Quicksand"/>
                <a:sym typeface="Quicksand"/>
              </a:rPr>
              <a:t>Implementing a Fully Connected Layer, this phase captures key features and nuances of the sign gestures. </a:t>
            </a:r>
          </a:p>
          <a:p>
            <a:pPr algn="just">
              <a:lnSpc>
                <a:spcPct val="150000"/>
              </a:lnSpc>
              <a:spcBef>
                <a:spcPct val="0"/>
              </a:spcBef>
            </a:pPr>
            <a:r>
              <a:rPr lang="en-US" sz="2600" b="1" u="none" strike="noStrike" dirty="0">
                <a:solidFill>
                  <a:srgbClr val="0F4662"/>
                </a:solidFill>
                <a:latin typeface="Quicksand Bold"/>
                <a:ea typeface="Quicksand Bold"/>
                <a:cs typeface="Quicksand Bold"/>
                <a:sym typeface="Quicksand Bold"/>
              </a:rPr>
              <a:t>3.5. Classification</a:t>
            </a:r>
          </a:p>
          <a:p>
            <a:pPr algn="just">
              <a:lnSpc>
                <a:spcPct val="150000"/>
              </a:lnSpc>
              <a:spcBef>
                <a:spcPct val="0"/>
              </a:spcBef>
            </a:pPr>
            <a:r>
              <a:rPr lang="en-US" sz="2600" u="none" strike="noStrike" dirty="0">
                <a:solidFill>
                  <a:srgbClr val="0F4662"/>
                </a:solidFill>
                <a:latin typeface="Quicksand"/>
                <a:ea typeface="Quicksand"/>
                <a:cs typeface="Quicksand"/>
                <a:sym typeface="Quicksand"/>
              </a:rPr>
              <a:t>Utilizing a Pooling Layer, this step categorizes the extracted features, aiding in the identification of specific sign language gestures based on the captured features.</a:t>
            </a:r>
          </a:p>
          <a:p>
            <a:pPr algn="just">
              <a:lnSpc>
                <a:spcPct val="150000"/>
              </a:lnSpc>
              <a:spcBef>
                <a:spcPct val="0"/>
              </a:spcBef>
            </a:pPr>
            <a:r>
              <a:rPr lang="en-US" sz="2600" b="1" u="none" strike="noStrike" dirty="0">
                <a:solidFill>
                  <a:srgbClr val="0F4662"/>
                </a:solidFill>
                <a:latin typeface="Quicksand Bold"/>
                <a:ea typeface="Quicksand Bold"/>
                <a:cs typeface="Quicksand Bold"/>
                <a:sym typeface="Quicksand Bold"/>
              </a:rPr>
              <a:t>3.6. Build and Train</a:t>
            </a:r>
          </a:p>
          <a:p>
            <a:pPr algn="just">
              <a:lnSpc>
                <a:spcPct val="150000"/>
              </a:lnSpc>
              <a:spcBef>
                <a:spcPct val="0"/>
              </a:spcBef>
            </a:pPr>
            <a:r>
              <a:rPr lang="en-US" sz="2600" u="none" strike="noStrike" dirty="0">
                <a:solidFill>
                  <a:srgbClr val="0F4662"/>
                </a:solidFill>
                <a:latin typeface="Quicksand"/>
                <a:ea typeface="Quicksand"/>
                <a:cs typeface="Quicksand"/>
                <a:sym typeface="Quicksand"/>
              </a:rPr>
              <a:t>This phase involves the development and training of the </a:t>
            </a:r>
            <a:r>
              <a:rPr lang="en-US" sz="2600" u="none" strike="noStrike" dirty="0" err="1">
                <a:solidFill>
                  <a:srgbClr val="0F4662"/>
                </a:solidFill>
                <a:latin typeface="Quicksand"/>
                <a:ea typeface="Quicksand"/>
                <a:cs typeface="Quicksand"/>
                <a:sym typeface="Quicksand"/>
              </a:rPr>
              <a:t>SignNet</a:t>
            </a:r>
            <a:r>
              <a:rPr lang="en-US" sz="2600" u="none" strike="noStrike" dirty="0">
                <a:solidFill>
                  <a:srgbClr val="0F4662"/>
                </a:solidFill>
                <a:latin typeface="Quicksand"/>
                <a:ea typeface="Quicksand"/>
                <a:cs typeface="Quicksand"/>
                <a:sym typeface="Quicksand"/>
              </a:rPr>
              <a:t> Model using Convolutional Neural Network (CNN) architecture. The model is trained on the preprocessed and segmented dataset, with parameters adjusted for optimal performance.</a:t>
            </a:r>
          </a:p>
          <a:p>
            <a:pPr algn="just">
              <a:lnSpc>
                <a:spcPct val="150000"/>
              </a:lnSpc>
              <a:spcBef>
                <a:spcPct val="0"/>
              </a:spcBef>
            </a:pPr>
            <a:r>
              <a:rPr lang="en-US" sz="2600" b="1" u="none" strike="noStrike" dirty="0">
                <a:solidFill>
                  <a:srgbClr val="0F4662"/>
                </a:solidFill>
                <a:latin typeface="Quicksand Bold"/>
                <a:ea typeface="Quicksand Bold"/>
                <a:cs typeface="Quicksand Bold"/>
                <a:sym typeface="Quicksand Bold"/>
              </a:rPr>
              <a:t>3.7. Deploy Model</a:t>
            </a:r>
          </a:p>
          <a:p>
            <a:pPr algn="just">
              <a:lnSpc>
                <a:spcPct val="150000"/>
              </a:lnSpc>
              <a:spcBef>
                <a:spcPct val="0"/>
              </a:spcBef>
            </a:pPr>
            <a:r>
              <a:rPr lang="en-US" sz="2600" u="none" strike="noStrike" dirty="0">
                <a:solidFill>
                  <a:srgbClr val="0F4662"/>
                </a:solidFill>
                <a:latin typeface="Quicksand"/>
                <a:ea typeface="Quicksand"/>
                <a:cs typeface="Quicksand"/>
                <a:sym typeface="Quicksand"/>
              </a:rPr>
              <a:t>The final step is the integration of the trained </a:t>
            </a:r>
            <a:r>
              <a:rPr lang="en-US" sz="2600" u="none" strike="noStrike" dirty="0" err="1">
                <a:solidFill>
                  <a:srgbClr val="0F4662"/>
                </a:solidFill>
                <a:latin typeface="Quicksand"/>
                <a:ea typeface="Quicksand"/>
                <a:cs typeface="Quicksand"/>
                <a:sym typeface="Quicksand"/>
              </a:rPr>
              <a:t>SignNet</a:t>
            </a:r>
            <a:r>
              <a:rPr lang="en-US" sz="2600" u="none" strike="noStrike" dirty="0">
                <a:solidFill>
                  <a:srgbClr val="0F4662"/>
                </a:solidFill>
                <a:latin typeface="Quicksand"/>
                <a:ea typeface="Quicksand"/>
                <a:cs typeface="Quicksand"/>
                <a:sym typeface="Quicksand"/>
              </a:rPr>
              <a:t> Model into the Deaf Companion System Web App. This integration allows for real-time sign language recognition, contributing to a seamless and inclusive communication experience for individuals with hearing and mute disabilities.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5E1C6A9E-C7DD-BA5B-86AA-43C63854ADE0}"/>
              </a:ext>
            </a:extLst>
          </p:cNvPr>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24000" y="923205"/>
            <a:ext cx="15163800" cy="8398386"/>
          </a:xfrm>
          <a:prstGeom prst="rect">
            <a:avLst/>
          </a:prstGeom>
          <a:noFill/>
          <a:ln w="12700">
            <a:solidFill>
              <a:schemeClr val="tx1"/>
            </a:solidFill>
            <a:prstDash val="soli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989B32F0-C3B6-EC57-A7D1-FD306C869737}"/>
              </a:ext>
            </a:extLst>
          </p:cNvPr>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11253" y="1411126"/>
            <a:ext cx="16465494" cy="7464747"/>
          </a:xfrm>
          <a:prstGeom prst="rect">
            <a:avLst/>
          </a:prstGeom>
          <a:noFill/>
          <a:ln w="12700">
            <a:solidFill>
              <a:schemeClr val="tx1"/>
            </a:solidFill>
            <a:prstDash val="soli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52AE10A2-518C-34B2-7E47-4E1B460923CD}"/>
              </a:ext>
            </a:extLst>
          </p:cNvPr>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28700" y="906130"/>
            <a:ext cx="16230600" cy="8474740"/>
          </a:xfrm>
          <a:prstGeom prst="rect">
            <a:avLst/>
          </a:prstGeom>
          <a:noFill/>
          <a:ln w="12700">
            <a:solidFill>
              <a:schemeClr val="tx1"/>
            </a:solidFill>
            <a:prstDash val="soli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xmlns="" id="{FC35D930-1C26-2ECD-09EF-BD525834F908}"/>
              </a:ext>
            </a:extLst>
          </p:cNvPr>
          <p:cNvSpPr txBox="1"/>
          <p:nvPr/>
        </p:nvSpPr>
        <p:spPr>
          <a:xfrm>
            <a:off x="1066800" y="571500"/>
            <a:ext cx="10724978" cy="1102289"/>
          </a:xfrm>
          <a:prstGeom prst="rect">
            <a:avLst/>
          </a:prstGeom>
        </p:spPr>
        <p:txBody>
          <a:bodyPr lIns="0" tIns="0" rIns="0" bIns="0" rtlCol="0" anchor="t">
            <a:spAutoFit/>
          </a:bodyPr>
          <a:lstStyle/>
          <a:p>
            <a:pPr algn="l">
              <a:lnSpc>
                <a:spcPts val="8959"/>
              </a:lnSpc>
            </a:pPr>
            <a:r>
              <a:rPr lang="en-US" sz="6399" b="1" i="1" dirty="0">
                <a:solidFill>
                  <a:srgbClr val="0F4662"/>
                </a:solidFill>
                <a:latin typeface="Cormorant Garamond Bold Italics"/>
                <a:ea typeface="Cormorant Garamond Bold Italics"/>
                <a:cs typeface="Cormorant Garamond Bold Italics"/>
                <a:sym typeface="Cormorant Garamond Bold Italics"/>
              </a:rPr>
              <a:t>4</a:t>
            </a:r>
            <a:r>
              <a:rPr lang="en-US" sz="6399" b="1" i="1" dirty="0">
                <a:solidFill>
                  <a:srgbClr val="0F4662"/>
                </a:solidFill>
                <a:latin typeface="Cormorant Garamond Bold Italics"/>
                <a:sym typeface="Cormorant Garamond Bold Italics"/>
              </a:rPr>
              <a:t>. S</a:t>
            </a:r>
            <a:r>
              <a:rPr lang="en-US" sz="6399" b="1" i="1" dirty="0">
                <a:solidFill>
                  <a:srgbClr val="0F4662"/>
                </a:solidFill>
                <a:latin typeface="Cormorant Garamond Bold Italics"/>
              </a:rPr>
              <a:t>ign Language Recognition</a:t>
            </a:r>
            <a:endParaRPr lang="en-US" sz="6399" b="1" i="1" dirty="0">
              <a:solidFill>
                <a:srgbClr val="0F4662"/>
              </a:solidFill>
              <a:latin typeface="Cormorant Garamond Bold Italics"/>
              <a:sym typeface="Cormorant Garamond Bold Italics"/>
            </a:endParaRPr>
          </a:p>
        </p:txBody>
      </p:sp>
      <p:sp>
        <p:nvSpPr>
          <p:cNvPr id="3" name="Freeform 4">
            <a:extLst>
              <a:ext uri="{FF2B5EF4-FFF2-40B4-BE49-F238E27FC236}">
                <a16:creationId xmlns:a16="http://schemas.microsoft.com/office/drawing/2014/main" xmlns="" id="{5F11CBE8-4E97-A172-8CE5-FCC54235DFDA}"/>
              </a:ext>
            </a:extLst>
          </p:cNvPr>
          <p:cNvSpPr/>
          <p:nvPr/>
        </p:nvSpPr>
        <p:spPr>
          <a:xfrm>
            <a:off x="15617403" y="685800"/>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5" name="TextBox 4">
            <a:extLst>
              <a:ext uri="{FF2B5EF4-FFF2-40B4-BE49-F238E27FC236}">
                <a16:creationId xmlns:a16="http://schemas.microsoft.com/office/drawing/2014/main" xmlns="" id="{BDFC7E77-B822-F406-3E39-1C9F441B773D}"/>
              </a:ext>
            </a:extLst>
          </p:cNvPr>
          <p:cNvSpPr txBox="1"/>
          <p:nvPr/>
        </p:nvSpPr>
        <p:spPr>
          <a:xfrm>
            <a:off x="1371600" y="2171700"/>
            <a:ext cx="15468600" cy="7160422"/>
          </a:xfrm>
          <a:prstGeom prst="rect">
            <a:avLst/>
          </a:prstGeom>
          <a:noFill/>
        </p:spPr>
        <p:txBody>
          <a:bodyPr wrap="square">
            <a:spAutoFit/>
          </a:bodyPr>
          <a:lstStyle/>
          <a:p>
            <a:pPr indent="0" algn="just">
              <a:lnSpc>
                <a:spcPts val="4770"/>
              </a:lnSpc>
              <a:spcBef>
                <a:spcPct val="0"/>
              </a:spcBef>
              <a:buNone/>
            </a:pPr>
            <a:r>
              <a:rPr lang="en-US" sz="2806" b="1" dirty="0">
                <a:solidFill>
                  <a:srgbClr val="0F4662"/>
                </a:solidFill>
                <a:latin typeface="Quicksand Bold"/>
              </a:rPr>
              <a:t>4.1. Live Video Call with Sign</a:t>
            </a:r>
          </a:p>
          <a:p>
            <a:pPr indent="0" algn="just">
              <a:spcBef>
                <a:spcPts val="0"/>
              </a:spcBef>
              <a:buNone/>
            </a:pPr>
            <a:r>
              <a:rPr lang="en-US" sz="2610" dirty="0">
                <a:solidFill>
                  <a:srgbClr val="0F4662"/>
                </a:solidFill>
                <a:latin typeface="Quicksand"/>
              </a:rPr>
              <a:t>This feature facilitates real-time communication for deaf users who can express sign language gestures through their webcams. The live video feed captures the dynamic nature of sign language, allowing users to convey messages seamlessly.</a:t>
            </a:r>
          </a:p>
          <a:p>
            <a:pPr indent="0" algn="just">
              <a:spcBef>
                <a:spcPts val="0"/>
              </a:spcBef>
              <a:buNone/>
            </a:pPr>
            <a:endParaRPr lang="en-US" sz="2610" dirty="0">
              <a:solidFill>
                <a:srgbClr val="0F4662"/>
              </a:solidFill>
              <a:latin typeface="Quicksand"/>
            </a:endParaRPr>
          </a:p>
          <a:p>
            <a:pPr algn="just">
              <a:lnSpc>
                <a:spcPts val="4770"/>
              </a:lnSpc>
              <a:spcBef>
                <a:spcPct val="0"/>
              </a:spcBef>
            </a:pPr>
            <a:r>
              <a:rPr lang="en-US" sz="2806" b="1" dirty="0">
                <a:solidFill>
                  <a:srgbClr val="0F4662"/>
                </a:solidFill>
                <a:latin typeface="Quicksand Bold"/>
              </a:rPr>
              <a:t>4.2. Recognize Sign</a:t>
            </a:r>
          </a:p>
          <a:p>
            <a:pPr indent="0" algn="just">
              <a:spcBef>
                <a:spcPts val="0"/>
              </a:spcBef>
              <a:buNone/>
            </a:pPr>
            <a:r>
              <a:rPr lang="en-US" sz="2610" dirty="0">
                <a:solidFill>
                  <a:srgbClr val="0F4662"/>
                </a:solidFill>
                <a:latin typeface="Quicksand"/>
              </a:rPr>
              <a:t>Employing Temporal Convolutional Networks (TCN) integrated with the </a:t>
            </a:r>
            <a:r>
              <a:rPr lang="en-US" sz="2610" dirty="0" err="1">
                <a:solidFill>
                  <a:srgbClr val="0F4662"/>
                </a:solidFill>
                <a:latin typeface="Quicksand"/>
              </a:rPr>
              <a:t>SignNet</a:t>
            </a:r>
            <a:r>
              <a:rPr lang="en-US" sz="2610" dirty="0">
                <a:solidFill>
                  <a:srgbClr val="0F4662"/>
                </a:solidFill>
                <a:latin typeface="Quicksand"/>
              </a:rPr>
              <a:t> Model, this step focuses on the recognition and interpretation of live sign language gestures. The TCN enhances temporal modeling, ensuring the model captures the dynamic nature of signs over time for accurate interpretation.</a:t>
            </a:r>
          </a:p>
          <a:p>
            <a:pPr indent="0" algn="just">
              <a:spcBef>
                <a:spcPts val="0"/>
              </a:spcBef>
              <a:buNone/>
            </a:pPr>
            <a:endParaRPr lang="en-US" sz="2610" dirty="0">
              <a:solidFill>
                <a:srgbClr val="0F4662"/>
              </a:solidFill>
              <a:latin typeface="Quicksand"/>
            </a:endParaRPr>
          </a:p>
          <a:p>
            <a:pPr indent="0" algn="just">
              <a:lnSpc>
                <a:spcPts val="4770"/>
              </a:lnSpc>
              <a:spcBef>
                <a:spcPct val="0"/>
              </a:spcBef>
              <a:buNone/>
            </a:pPr>
            <a:r>
              <a:rPr lang="en-US" sz="2806" b="1" dirty="0">
                <a:solidFill>
                  <a:srgbClr val="0F4662"/>
                </a:solidFill>
                <a:latin typeface="Quicksand Bold"/>
              </a:rPr>
              <a:t>4.3. Multilanguage Interpretation</a:t>
            </a:r>
          </a:p>
          <a:p>
            <a:pPr indent="0" algn="just">
              <a:spcBef>
                <a:spcPts val="0"/>
              </a:spcBef>
              <a:buNone/>
            </a:pPr>
            <a:r>
              <a:rPr lang="en-US" sz="2610" dirty="0">
                <a:solidFill>
                  <a:srgbClr val="0F4662"/>
                </a:solidFill>
                <a:latin typeface="Quicksand"/>
              </a:rPr>
              <a:t>The Multilanguage Interpretation feature broadens the system's accessibility by allowing interpretation of sign language gestures in multiple languages. This ensures inclusivity and accommodates users with diverse linguistic preferences, making the system adaptable to a global audience.</a:t>
            </a:r>
          </a:p>
        </p:txBody>
      </p:sp>
    </p:spTree>
    <p:extLst>
      <p:ext uri="{BB962C8B-B14F-4D97-AF65-F5344CB8AC3E}">
        <p14:creationId xmlns:p14="http://schemas.microsoft.com/office/powerpoint/2010/main" xmlns="" val="41274780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0529765B-0F13-0964-56C5-A0352E8F7CE2}"/>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b="25327"/>
          <a:stretch/>
        </p:blipFill>
        <p:spPr bwMode="auto">
          <a:xfrm>
            <a:off x="1295400" y="1322481"/>
            <a:ext cx="15674568" cy="7631019"/>
          </a:xfrm>
          <a:prstGeom prst="rect">
            <a:avLst/>
          </a:prstGeom>
          <a:noFill/>
          <a:ln w="12700">
            <a:solidFill>
              <a:schemeClr val="tx1"/>
            </a:solidFill>
            <a:prstDash val="solid"/>
          </a:ln>
          <a:extLst>
            <a:ext uri="{53640926-AAD7-44D8-BBD7-CCE9431645EC}">
              <a14:shadowObscured xmlns:a14="http://schemas.microsoft.com/office/drawing/2010/main" xmlns=""/>
            </a:ext>
          </a:extLst>
        </p:spPr>
      </p:pic>
    </p:spTree>
    <p:extLst>
      <p:ext uri="{BB962C8B-B14F-4D97-AF65-F5344CB8AC3E}">
        <p14:creationId xmlns:p14="http://schemas.microsoft.com/office/powerpoint/2010/main" xmlns="" val="32993127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xmlns="" id="{3A403779-20C0-CAC0-305D-A9BFE5DA0320}"/>
              </a:ext>
            </a:extLst>
          </p:cNvPr>
          <p:cNvSpPr txBox="1"/>
          <p:nvPr/>
        </p:nvSpPr>
        <p:spPr>
          <a:xfrm>
            <a:off x="1066800" y="571500"/>
            <a:ext cx="10724978" cy="1099019"/>
          </a:xfrm>
          <a:prstGeom prst="rect">
            <a:avLst/>
          </a:prstGeom>
        </p:spPr>
        <p:txBody>
          <a:bodyPr lIns="0" tIns="0" rIns="0" bIns="0" rtlCol="0" anchor="t">
            <a:spAutoFit/>
          </a:bodyPr>
          <a:lstStyle/>
          <a:p>
            <a:pPr algn="l">
              <a:lnSpc>
                <a:spcPts val="8959"/>
              </a:lnSpc>
            </a:pPr>
            <a:r>
              <a:rPr lang="en-US" sz="6399" b="1" i="1" dirty="0">
                <a:solidFill>
                  <a:srgbClr val="0F4662"/>
                </a:solidFill>
                <a:latin typeface="Cormorant Garamond Bold Italics"/>
                <a:sym typeface="Cormorant Garamond Bold Italics"/>
              </a:rPr>
              <a:t>5. S</a:t>
            </a:r>
            <a:r>
              <a:rPr lang="en-US" sz="6399" b="1" i="1" dirty="0">
                <a:solidFill>
                  <a:srgbClr val="0F4662"/>
                </a:solidFill>
                <a:latin typeface="Cormorant Garamond Bold Italics"/>
              </a:rPr>
              <a:t>peech Recognition and Synthesis</a:t>
            </a:r>
            <a:endParaRPr lang="en-US" sz="6399" b="1" i="1" dirty="0">
              <a:solidFill>
                <a:srgbClr val="0F4662"/>
              </a:solidFill>
              <a:latin typeface="Cormorant Garamond Bold Italics"/>
              <a:sym typeface="Cormorant Garamond Bold Italics"/>
            </a:endParaRPr>
          </a:p>
        </p:txBody>
      </p:sp>
      <p:sp>
        <p:nvSpPr>
          <p:cNvPr id="3" name="Freeform 4">
            <a:extLst>
              <a:ext uri="{FF2B5EF4-FFF2-40B4-BE49-F238E27FC236}">
                <a16:creationId xmlns:a16="http://schemas.microsoft.com/office/drawing/2014/main" xmlns="" id="{C128C9C8-8F03-BC92-7184-1F2E7FD3F960}"/>
              </a:ext>
            </a:extLst>
          </p:cNvPr>
          <p:cNvSpPr/>
          <p:nvPr/>
        </p:nvSpPr>
        <p:spPr>
          <a:xfrm>
            <a:off x="15617403" y="685800"/>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5" name="TextBox 4">
            <a:extLst>
              <a:ext uri="{FF2B5EF4-FFF2-40B4-BE49-F238E27FC236}">
                <a16:creationId xmlns:a16="http://schemas.microsoft.com/office/drawing/2014/main" xmlns="" id="{DF70B3E3-C2B6-FCC4-9381-2125C2FBD539}"/>
              </a:ext>
            </a:extLst>
          </p:cNvPr>
          <p:cNvSpPr txBox="1"/>
          <p:nvPr/>
        </p:nvSpPr>
        <p:spPr>
          <a:xfrm>
            <a:off x="914400" y="2476500"/>
            <a:ext cx="16139160" cy="6649256"/>
          </a:xfrm>
          <a:prstGeom prst="rect">
            <a:avLst/>
          </a:prstGeom>
          <a:noFill/>
        </p:spPr>
        <p:txBody>
          <a:bodyPr wrap="square">
            <a:spAutoFit/>
          </a:bodyPr>
          <a:lstStyle/>
          <a:p>
            <a:pPr indent="0" algn="just">
              <a:lnSpc>
                <a:spcPct val="150000"/>
              </a:lnSpc>
              <a:spcBef>
                <a:spcPts val="0"/>
              </a:spcBef>
              <a:buNone/>
            </a:pPr>
            <a:r>
              <a:rPr lang="en-US" sz="2610" b="1" dirty="0">
                <a:solidFill>
                  <a:srgbClr val="0F4662"/>
                </a:solidFill>
                <a:latin typeface="Quicksand Bold"/>
              </a:rPr>
              <a:t>5.1. Speech Recognition </a:t>
            </a:r>
          </a:p>
          <a:p>
            <a:pPr indent="0" algn="just">
              <a:lnSpc>
                <a:spcPct val="150000"/>
              </a:lnSpc>
              <a:spcBef>
                <a:spcPts val="0"/>
              </a:spcBef>
              <a:buNone/>
            </a:pPr>
            <a:r>
              <a:rPr lang="en-US" sz="2610" dirty="0">
                <a:solidFill>
                  <a:srgbClr val="0F4662"/>
                </a:solidFill>
                <a:latin typeface="Quicksand"/>
              </a:rPr>
              <a:t>The Speech Recognition Module is designed to convert non-deaf speech into text, facilitating seamless communication with deaf individuals. Using Hidden Markov Models (HMM), the module captures the nuances of spoken language, translating them into textual representations. </a:t>
            </a:r>
          </a:p>
          <a:p>
            <a:pPr indent="0" algn="just">
              <a:lnSpc>
                <a:spcPct val="150000"/>
              </a:lnSpc>
              <a:spcBef>
                <a:spcPts val="0"/>
              </a:spcBef>
              <a:buNone/>
            </a:pPr>
            <a:endParaRPr lang="en-US" sz="2610" b="1" dirty="0">
              <a:solidFill>
                <a:srgbClr val="0F4662"/>
              </a:solidFill>
              <a:latin typeface="Quicksand Bold"/>
            </a:endParaRPr>
          </a:p>
          <a:p>
            <a:pPr indent="0" algn="just">
              <a:lnSpc>
                <a:spcPct val="150000"/>
              </a:lnSpc>
              <a:spcBef>
                <a:spcPts val="0"/>
              </a:spcBef>
              <a:buNone/>
            </a:pPr>
            <a:r>
              <a:rPr lang="en-US" sz="2610" b="1" dirty="0">
                <a:solidFill>
                  <a:srgbClr val="0F4662"/>
                </a:solidFill>
                <a:latin typeface="Quicksand Bold"/>
              </a:rPr>
              <a:t>5.2. Speech Synthesis </a:t>
            </a:r>
          </a:p>
          <a:p>
            <a:pPr algn="just">
              <a:lnSpc>
                <a:spcPct val="150000"/>
              </a:lnSpc>
            </a:pPr>
            <a:r>
              <a:rPr lang="en-US" sz="2610" dirty="0">
                <a:solidFill>
                  <a:srgbClr val="0F4662"/>
                </a:solidFill>
                <a:latin typeface="Quicksand"/>
              </a:rPr>
              <a:t>The Speech Synthesis Module generates spoken language output based on the recognized text, enhancing communication for non-deaf individuals. Leveraging text-to-speech (TTS) synthesis techniques, the module creates natural-sounding spoken output. The synthesized voice is then synchronized with predicted sign language gestures, providing a comprehensive and engaging communication experience for users.</a:t>
            </a:r>
          </a:p>
        </p:txBody>
      </p:sp>
    </p:spTree>
    <p:extLst>
      <p:ext uri="{BB962C8B-B14F-4D97-AF65-F5344CB8AC3E}">
        <p14:creationId xmlns:p14="http://schemas.microsoft.com/office/powerpoint/2010/main" xmlns="" val="35641817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94BAD9ED-A464-34EC-1E44-904C21C1CD6B}"/>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b="37984"/>
          <a:stretch/>
        </p:blipFill>
        <p:spPr bwMode="auto">
          <a:xfrm>
            <a:off x="1321878" y="1981200"/>
            <a:ext cx="15644243" cy="6324600"/>
          </a:xfrm>
          <a:prstGeom prst="rect">
            <a:avLst/>
          </a:prstGeom>
          <a:noFill/>
          <a:ln w="12700">
            <a:solidFill>
              <a:schemeClr val="tx1"/>
            </a:solidFill>
            <a:prstDash val="solid"/>
          </a:ln>
          <a:extLst>
            <a:ext uri="{53640926-AAD7-44D8-BBD7-CCE9431645EC}">
              <a14:shadowObscured xmlns:a14="http://schemas.microsoft.com/office/drawing/2010/main" xmlns=""/>
            </a:ext>
          </a:extLst>
        </p:spPr>
      </p:pic>
    </p:spTree>
    <p:extLst>
      <p:ext uri="{BB962C8B-B14F-4D97-AF65-F5344CB8AC3E}">
        <p14:creationId xmlns:p14="http://schemas.microsoft.com/office/powerpoint/2010/main" xmlns="" val="30755555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xmlns="" id="{2C98382E-991E-8750-6488-D4F77CCEE941}"/>
              </a:ext>
            </a:extLst>
          </p:cNvPr>
          <p:cNvSpPr txBox="1"/>
          <p:nvPr/>
        </p:nvSpPr>
        <p:spPr>
          <a:xfrm>
            <a:off x="1066800" y="571500"/>
            <a:ext cx="10724978" cy="1102289"/>
          </a:xfrm>
          <a:prstGeom prst="rect">
            <a:avLst/>
          </a:prstGeom>
        </p:spPr>
        <p:txBody>
          <a:bodyPr lIns="0" tIns="0" rIns="0" bIns="0" rtlCol="0" anchor="t">
            <a:spAutoFit/>
          </a:bodyPr>
          <a:lstStyle/>
          <a:p>
            <a:pPr algn="l">
              <a:lnSpc>
                <a:spcPts val="8959"/>
              </a:lnSpc>
            </a:pPr>
            <a:r>
              <a:rPr lang="en-US" sz="6399" b="1" i="1" dirty="0">
                <a:solidFill>
                  <a:srgbClr val="0F4662"/>
                </a:solidFill>
                <a:latin typeface="Cormorant Garamond Bold Italics"/>
                <a:sym typeface="Cormorant Garamond Bold Italics"/>
              </a:rPr>
              <a:t>6. </a:t>
            </a:r>
            <a:r>
              <a:rPr lang="en-US" sz="6399" b="1" i="1" dirty="0">
                <a:solidFill>
                  <a:srgbClr val="0F4662"/>
                </a:solidFill>
                <a:latin typeface="Cormorant Garamond Bold Italics"/>
              </a:rPr>
              <a:t>Visual Communication</a:t>
            </a:r>
            <a:endParaRPr lang="en-US" sz="6399" b="1" i="1" dirty="0">
              <a:solidFill>
                <a:srgbClr val="0F4662"/>
              </a:solidFill>
              <a:latin typeface="Cormorant Garamond Bold Italics"/>
              <a:sym typeface="Cormorant Garamond Bold Italics"/>
            </a:endParaRPr>
          </a:p>
        </p:txBody>
      </p:sp>
      <p:sp>
        <p:nvSpPr>
          <p:cNvPr id="3" name="Freeform 4">
            <a:extLst>
              <a:ext uri="{FF2B5EF4-FFF2-40B4-BE49-F238E27FC236}">
                <a16:creationId xmlns:a16="http://schemas.microsoft.com/office/drawing/2014/main" xmlns="" id="{5723DEAE-A179-DD8F-3D26-9E79CB7D8270}"/>
              </a:ext>
            </a:extLst>
          </p:cNvPr>
          <p:cNvSpPr/>
          <p:nvPr/>
        </p:nvSpPr>
        <p:spPr>
          <a:xfrm>
            <a:off x="15617403" y="685800"/>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5" name="TextBox 4">
            <a:extLst>
              <a:ext uri="{FF2B5EF4-FFF2-40B4-BE49-F238E27FC236}">
                <a16:creationId xmlns:a16="http://schemas.microsoft.com/office/drawing/2014/main" xmlns="" id="{3303B388-57B1-CCCA-350E-2DE3D190F1A6}"/>
              </a:ext>
            </a:extLst>
          </p:cNvPr>
          <p:cNvSpPr txBox="1"/>
          <p:nvPr/>
        </p:nvSpPr>
        <p:spPr>
          <a:xfrm>
            <a:off x="1066800" y="2247900"/>
            <a:ext cx="16230600" cy="7258013"/>
          </a:xfrm>
          <a:prstGeom prst="rect">
            <a:avLst/>
          </a:prstGeom>
          <a:noFill/>
        </p:spPr>
        <p:txBody>
          <a:bodyPr wrap="square">
            <a:spAutoFit/>
          </a:bodyPr>
          <a:lstStyle/>
          <a:p>
            <a:pPr marL="0" indent="0" algn="just">
              <a:lnSpc>
                <a:spcPct val="150000"/>
              </a:lnSpc>
              <a:spcBef>
                <a:spcPts val="0"/>
              </a:spcBef>
              <a:buNone/>
            </a:pPr>
            <a:r>
              <a:rPr lang="en-US" sz="2610" dirty="0">
                <a:solidFill>
                  <a:srgbClr val="0F4662"/>
                </a:solidFill>
                <a:latin typeface="Quicksand"/>
              </a:rPr>
              <a:t>The Avatar Generation module within the Deaf Companion System, designed to elevate the experience of visual communication. Dynamic Avatar Generation is to transform the text from a normal individual into sign language, which is then executed through an Avatar.</a:t>
            </a:r>
          </a:p>
          <a:p>
            <a:pPr marL="0" indent="0" algn="just">
              <a:lnSpc>
                <a:spcPct val="150000"/>
              </a:lnSpc>
              <a:spcBef>
                <a:spcPts val="0"/>
              </a:spcBef>
              <a:buNone/>
            </a:pPr>
            <a:endParaRPr lang="en-US" sz="2610" dirty="0">
              <a:solidFill>
                <a:srgbClr val="0F4662"/>
              </a:solidFill>
              <a:latin typeface="Quicksand"/>
            </a:endParaRPr>
          </a:p>
          <a:p>
            <a:pPr indent="0" algn="just">
              <a:lnSpc>
                <a:spcPct val="150000"/>
              </a:lnSpc>
              <a:spcBef>
                <a:spcPts val="0"/>
              </a:spcBef>
              <a:buNone/>
            </a:pPr>
            <a:r>
              <a:rPr lang="en-US" sz="2610" b="1" dirty="0">
                <a:solidFill>
                  <a:srgbClr val="0F4662"/>
                </a:solidFill>
                <a:latin typeface="Quicksand Bold"/>
              </a:rPr>
              <a:t>Dynamic Avatar Generation</a:t>
            </a:r>
          </a:p>
          <a:p>
            <a:pPr marL="0" indent="0" algn="just">
              <a:lnSpc>
                <a:spcPct val="150000"/>
              </a:lnSpc>
              <a:spcBef>
                <a:spcPts val="0"/>
              </a:spcBef>
              <a:buNone/>
            </a:pPr>
            <a:r>
              <a:rPr lang="en-US" sz="2610" dirty="0">
                <a:solidFill>
                  <a:srgbClr val="0F4662"/>
                </a:solidFill>
                <a:latin typeface="Quicksand"/>
              </a:rPr>
              <a:t>Utilizes the recognized speech to dynamically generate visual representations of sign language avatars. The avatars are crafted in real-time, ensuring synchronization with the flow and nuances of the communicated message.</a:t>
            </a:r>
          </a:p>
          <a:p>
            <a:pPr marL="0" indent="0" algn="just">
              <a:lnSpc>
                <a:spcPct val="150000"/>
              </a:lnSpc>
              <a:spcBef>
                <a:spcPts val="0"/>
              </a:spcBef>
              <a:buNone/>
            </a:pPr>
            <a:endParaRPr lang="en-US" sz="2610" dirty="0">
              <a:solidFill>
                <a:srgbClr val="0F4662"/>
              </a:solidFill>
              <a:latin typeface="Quicksand"/>
            </a:endParaRPr>
          </a:p>
          <a:p>
            <a:pPr algn="just">
              <a:lnSpc>
                <a:spcPct val="150000"/>
              </a:lnSpc>
            </a:pPr>
            <a:r>
              <a:rPr lang="en-US" sz="2610" b="1" dirty="0">
                <a:solidFill>
                  <a:srgbClr val="0F4662"/>
                </a:solidFill>
                <a:latin typeface="Quicksand Bold"/>
              </a:rPr>
              <a:t>Synchronization</a:t>
            </a:r>
          </a:p>
          <a:p>
            <a:pPr marL="0" indent="0" algn="just">
              <a:lnSpc>
                <a:spcPct val="150000"/>
              </a:lnSpc>
              <a:spcBef>
                <a:spcPts val="0"/>
              </a:spcBef>
              <a:buNone/>
            </a:pPr>
            <a:r>
              <a:rPr lang="en-US" sz="2610" dirty="0">
                <a:solidFill>
                  <a:srgbClr val="0F4662"/>
                </a:solidFill>
                <a:latin typeface="Quicksand"/>
              </a:rPr>
              <a:t>Intricately synchronizes with the rhythm and content of non-deaf speech, creating a seamless and harmonious connection between spoken words and visual representation</a:t>
            </a:r>
            <a:r>
              <a:rPr lang="en-US" sz="2610" dirty="0">
                <a:solidFill>
                  <a:srgbClr val="0F4662"/>
                </a:solidFill>
                <a:latin typeface="Calibri" panose="020F0502020204030204" pitchFamily="34" charset="0"/>
                <a:cs typeface="Calibri" panose="020F0502020204030204" pitchFamily="34" charset="0"/>
              </a:rPr>
              <a:t>.</a:t>
            </a:r>
            <a:endParaRPr lang="en-US" sz="261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xmlns="" val="8923176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sp>
        <p:nvSpPr>
          <p:cNvPr id="2" name="TextBox 2"/>
          <p:cNvSpPr txBox="1"/>
          <p:nvPr/>
        </p:nvSpPr>
        <p:spPr>
          <a:xfrm>
            <a:off x="1028700" y="599709"/>
            <a:ext cx="4762500" cy="1154162"/>
          </a:xfrm>
          <a:prstGeom prst="rect">
            <a:avLst/>
          </a:prstGeom>
        </p:spPr>
        <p:txBody>
          <a:bodyPr wrap="square"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CONCLUSION</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3" name="TextBox 3"/>
          <p:cNvSpPr txBox="1"/>
          <p:nvPr/>
        </p:nvSpPr>
        <p:spPr>
          <a:xfrm>
            <a:off x="1028700" y="2282822"/>
            <a:ext cx="16230600" cy="6975478"/>
          </a:xfrm>
          <a:prstGeom prst="rect">
            <a:avLst/>
          </a:prstGeom>
        </p:spPr>
        <p:txBody>
          <a:bodyPr lIns="0" tIns="0" rIns="0" bIns="0" rtlCol="0" anchor="t">
            <a:spAutoFit/>
          </a:bodyPr>
          <a:lstStyle/>
          <a:p>
            <a:pPr algn="just">
              <a:lnSpc>
                <a:spcPts val="5538"/>
              </a:lnSpc>
            </a:pPr>
            <a:r>
              <a:rPr lang="en-US" sz="3257" dirty="0">
                <a:solidFill>
                  <a:srgbClr val="0F4662"/>
                </a:solidFill>
                <a:latin typeface="Quicksand"/>
                <a:ea typeface="Quicksand"/>
                <a:cs typeface="Quicksand"/>
                <a:sym typeface="Quicksand"/>
              </a:rPr>
              <a:t>It is an AI-powered virtual meeting accessibility solution that enhances communication for hearing-impaired users by integrating real-time sign language recognition and avatar-based translation. </a:t>
            </a:r>
          </a:p>
          <a:p>
            <a:pPr algn="just">
              <a:lnSpc>
                <a:spcPts val="5538"/>
              </a:lnSpc>
            </a:pPr>
            <a:endParaRPr lang="en-US" sz="3257" dirty="0">
              <a:solidFill>
                <a:srgbClr val="0F4662"/>
              </a:solidFill>
              <a:latin typeface="Quicksand"/>
              <a:ea typeface="Quicksand"/>
              <a:cs typeface="Quicksand"/>
              <a:sym typeface="Quicksand"/>
            </a:endParaRPr>
          </a:p>
          <a:p>
            <a:pPr algn="just">
              <a:lnSpc>
                <a:spcPts val="5538"/>
              </a:lnSpc>
            </a:pPr>
            <a:r>
              <a:rPr lang="en-US" sz="3257" dirty="0">
                <a:solidFill>
                  <a:srgbClr val="0F4662"/>
                </a:solidFill>
                <a:latin typeface="Quicksand"/>
                <a:ea typeface="Quicksand"/>
                <a:cs typeface="Quicksand"/>
                <a:sym typeface="Quicksand"/>
              </a:rPr>
              <a:t>The system enables seamless interaction in Virtual platforms, ensuring inclusivity in professional and educational settings. </a:t>
            </a:r>
          </a:p>
          <a:p>
            <a:pPr algn="just">
              <a:lnSpc>
                <a:spcPts val="5538"/>
              </a:lnSpc>
            </a:pPr>
            <a:endParaRPr lang="en-US" sz="3257" dirty="0">
              <a:solidFill>
                <a:srgbClr val="0F4662"/>
              </a:solidFill>
              <a:latin typeface="Quicksand"/>
              <a:ea typeface="Quicksand"/>
              <a:cs typeface="Quicksand"/>
              <a:sym typeface="Quicksand"/>
            </a:endParaRPr>
          </a:p>
          <a:p>
            <a:pPr algn="just">
              <a:lnSpc>
                <a:spcPts val="5538"/>
              </a:lnSpc>
            </a:pPr>
            <a:r>
              <a:rPr lang="en-US" sz="3257" dirty="0">
                <a:solidFill>
                  <a:srgbClr val="0F4662"/>
                </a:solidFill>
                <a:latin typeface="Quicksand"/>
                <a:ea typeface="Quicksand"/>
                <a:cs typeface="Quicksand"/>
                <a:sym typeface="Quicksand"/>
              </a:rPr>
              <a:t>By leveraging deep learning models for sign recognition, It provides a cost-effective and scalable solution for improving accessibility in virtual communication.</a:t>
            </a:r>
          </a:p>
          <a:p>
            <a:pPr algn="just">
              <a:lnSpc>
                <a:spcPts val="5538"/>
              </a:lnSpc>
            </a:pPr>
            <a:endParaRPr lang="en-US" sz="3257" dirty="0">
              <a:solidFill>
                <a:srgbClr val="0F4662"/>
              </a:solidFill>
              <a:latin typeface="Quicksand"/>
              <a:ea typeface="Quicksand"/>
              <a:cs typeface="Quicksand"/>
              <a:sym typeface="Quicksand"/>
            </a:endParaRPr>
          </a:p>
        </p:txBody>
      </p:sp>
      <p:sp>
        <p:nvSpPr>
          <p:cNvPr id="4" name="Freeform 4"/>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5" name="AutoShape 5"/>
          <p:cNvSpPr/>
          <p:nvPr/>
        </p:nvSpPr>
        <p:spPr>
          <a:xfrm>
            <a:off x="10767060" y="1646824"/>
            <a:ext cx="6492240" cy="0"/>
          </a:xfrm>
          <a:prstGeom prst="line">
            <a:avLst/>
          </a:prstGeom>
          <a:ln w="76200" cap="flat">
            <a:solidFill>
              <a:srgbClr val="0F4662"/>
            </a:solidFill>
            <a:prstDash val="solid"/>
            <a:headEnd type="none" w="sm" len="sm"/>
            <a:tailEnd type="none" w="sm" len="sm"/>
          </a:ln>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86504E3-55F0-165B-0790-DC9483F0B817}"/>
              </a:ext>
            </a:extLst>
          </p:cNvPr>
          <p:cNvSpPr txBox="1"/>
          <p:nvPr/>
        </p:nvSpPr>
        <p:spPr>
          <a:xfrm>
            <a:off x="1066800" y="2400300"/>
            <a:ext cx="16230600" cy="6920356"/>
          </a:xfrm>
          <a:prstGeom prst="rect">
            <a:avLst/>
          </a:prstGeom>
          <a:noFill/>
        </p:spPr>
        <p:txBody>
          <a:bodyPr wrap="square">
            <a:spAutoFit/>
          </a:bodyPr>
          <a:lstStyle/>
          <a:p>
            <a:pPr algn="just"/>
            <a:r>
              <a:rPr lang="en-GB" sz="2610" dirty="0">
                <a:solidFill>
                  <a:srgbClr val="0F4662"/>
                </a:solidFill>
                <a:latin typeface="Quicksand"/>
              </a:rPr>
              <a:t>This project can be further improved with advanced features and optimizations to enhance accessibility, accuracy, and user experience. Some key future enhancements include:</a:t>
            </a:r>
          </a:p>
          <a:p>
            <a:pPr algn="just"/>
            <a:endParaRPr lang="en-GB" sz="2610" dirty="0">
              <a:solidFill>
                <a:srgbClr val="0F4662"/>
              </a:solidFill>
              <a:latin typeface="Quicksand"/>
            </a:endParaRPr>
          </a:p>
          <a:p>
            <a:pPr algn="just"/>
            <a:r>
              <a:rPr lang="en-GB" sz="2610" dirty="0">
                <a:solidFill>
                  <a:srgbClr val="0F4662"/>
                </a:solidFill>
                <a:latin typeface="Quicksand"/>
              </a:rPr>
              <a:t> • </a:t>
            </a:r>
            <a:r>
              <a:rPr lang="en-GB" sz="2610" b="1" dirty="0">
                <a:solidFill>
                  <a:srgbClr val="0F4662"/>
                </a:solidFill>
                <a:latin typeface="Quicksand Bold"/>
              </a:rPr>
              <a:t>Expanded Language Support: </a:t>
            </a:r>
            <a:r>
              <a:rPr lang="en-GB" sz="2610" dirty="0">
                <a:solidFill>
                  <a:srgbClr val="0F4662"/>
                </a:solidFill>
                <a:latin typeface="Quicksand"/>
              </a:rPr>
              <a:t>Incorporating additional sign languages, including regional and country-specific variations, to support a wider audience. </a:t>
            </a:r>
          </a:p>
          <a:p>
            <a:pPr algn="just"/>
            <a:endParaRPr lang="en-GB" sz="2610" dirty="0">
              <a:solidFill>
                <a:srgbClr val="0F4662"/>
              </a:solidFill>
              <a:latin typeface="Quicksand"/>
            </a:endParaRPr>
          </a:p>
          <a:p>
            <a:pPr algn="just"/>
            <a:r>
              <a:rPr lang="en-GB" sz="2610" dirty="0">
                <a:solidFill>
                  <a:srgbClr val="0F4662"/>
                </a:solidFill>
                <a:latin typeface="Quicksand"/>
              </a:rPr>
              <a:t>• </a:t>
            </a:r>
            <a:r>
              <a:rPr lang="en-GB" sz="2610" b="1" dirty="0">
                <a:solidFill>
                  <a:srgbClr val="0F4662"/>
                </a:solidFill>
                <a:latin typeface="Quicksand Bold"/>
              </a:rPr>
              <a:t>Integration with More Virtual Platforms: </a:t>
            </a:r>
            <a:r>
              <a:rPr lang="en-GB" sz="2610" dirty="0">
                <a:solidFill>
                  <a:srgbClr val="0F4662"/>
                </a:solidFill>
                <a:latin typeface="Quicksand"/>
              </a:rPr>
              <a:t>Extending compatibility beyond </a:t>
            </a:r>
            <a:r>
              <a:rPr lang="en-GB" sz="2610" dirty="0" err="1">
                <a:solidFill>
                  <a:srgbClr val="0F4662"/>
                </a:solidFill>
                <a:latin typeface="Quicksand"/>
              </a:rPr>
              <a:t>Jitsi</a:t>
            </a:r>
            <a:r>
              <a:rPr lang="en-GB" sz="2610" dirty="0">
                <a:solidFill>
                  <a:srgbClr val="0F4662"/>
                </a:solidFill>
                <a:latin typeface="Quicksand"/>
              </a:rPr>
              <a:t> to platforms like Zoom, Microsoft Teams, and Google Meet, allowing broader adoption. </a:t>
            </a:r>
          </a:p>
          <a:p>
            <a:pPr algn="just"/>
            <a:endParaRPr lang="en-GB" sz="2610" dirty="0">
              <a:solidFill>
                <a:srgbClr val="0F4662"/>
              </a:solidFill>
              <a:latin typeface="Quicksand"/>
            </a:endParaRPr>
          </a:p>
          <a:p>
            <a:pPr algn="just"/>
            <a:r>
              <a:rPr lang="en-GB" sz="2610" dirty="0">
                <a:solidFill>
                  <a:srgbClr val="0F4662"/>
                </a:solidFill>
                <a:latin typeface="Quicksand"/>
              </a:rPr>
              <a:t>• </a:t>
            </a:r>
            <a:r>
              <a:rPr lang="en-GB" sz="2610" b="1" dirty="0">
                <a:solidFill>
                  <a:srgbClr val="0F4662"/>
                </a:solidFill>
                <a:latin typeface="Quicksand Bold"/>
              </a:rPr>
              <a:t>Enhanced Avatar Customization: </a:t>
            </a:r>
            <a:r>
              <a:rPr lang="en-GB" sz="2610" dirty="0">
                <a:solidFill>
                  <a:srgbClr val="0F4662"/>
                </a:solidFill>
                <a:latin typeface="Quicksand"/>
              </a:rPr>
              <a:t>Improving the Avatar Module with realistic 3D animations, facial expressions, and lip-syncing for better sign language representation. </a:t>
            </a:r>
          </a:p>
          <a:p>
            <a:pPr algn="just"/>
            <a:endParaRPr lang="en-GB" sz="2610" dirty="0">
              <a:solidFill>
                <a:srgbClr val="0F4662"/>
              </a:solidFill>
              <a:latin typeface="Quicksand"/>
            </a:endParaRPr>
          </a:p>
          <a:p>
            <a:pPr algn="just"/>
            <a:r>
              <a:rPr lang="en-GB" sz="2610" dirty="0">
                <a:solidFill>
                  <a:srgbClr val="0F4662"/>
                </a:solidFill>
                <a:latin typeface="Quicksand"/>
              </a:rPr>
              <a:t>• </a:t>
            </a:r>
            <a:r>
              <a:rPr lang="en-GB" sz="2610" b="1" dirty="0">
                <a:solidFill>
                  <a:srgbClr val="0F4662"/>
                </a:solidFill>
                <a:latin typeface="Quicksand Bold"/>
              </a:rPr>
              <a:t>Mobile App Development: </a:t>
            </a:r>
            <a:r>
              <a:rPr lang="en-GB" sz="2610" dirty="0">
                <a:solidFill>
                  <a:srgbClr val="0F4662"/>
                </a:solidFill>
                <a:latin typeface="Quicksand"/>
              </a:rPr>
              <a:t>Creating a mobile version of the project to allow accessibility on smartphones and tablets for on-the-go communication. </a:t>
            </a:r>
          </a:p>
          <a:p>
            <a:pPr algn="just"/>
            <a:endParaRPr lang="en-GB" sz="2610" dirty="0">
              <a:solidFill>
                <a:srgbClr val="0F4662"/>
              </a:solidFill>
              <a:latin typeface="Quicksand"/>
            </a:endParaRPr>
          </a:p>
          <a:p>
            <a:pPr algn="just"/>
            <a:r>
              <a:rPr lang="en-GB" sz="2610" dirty="0">
                <a:solidFill>
                  <a:srgbClr val="0F4662"/>
                </a:solidFill>
                <a:latin typeface="Quicksand"/>
              </a:rPr>
              <a:t>• </a:t>
            </a:r>
            <a:r>
              <a:rPr lang="en-GB" sz="2610" b="1" dirty="0">
                <a:solidFill>
                  <a:srgbClr val="0F4662"/>
                </a:solidFill>
                <a:latin typeface="Quicksand Bold"/>
              </a:rPr>
              <a:t>Automated Meeting Transcription and Summarization: </a:t>
            </a:r>
            <a:r>
              <a:rPr lang="en-GB" sz="2610" dirty="0">
                <a:solidFill>
                  <a:srgbClr val="0F4662"/>
                </a:solidFill>
                <a:latin typeface="Quicksand"/>
              </a:rPr>
              <a:t>Implementing AI-based summarization tools to provide meeting notes and transcripts for improved accessibility and documentation.</a:t>
            </a:r>
            <a:endParaRPr lang="en-IN" sz="2610" dirty="0">
              <a:solidFill>
                <a:srgbClr val="0F4662"/>
              </a:solidFill>
              <a:latin typeface="Quicksand"/>
            </a:endParaRPr>
          </a:p>
        </p:txBody>
      </p:sp>
      <p:sp>
        <p:nvSpPr>
          <p:cNvPr id="5" name="TextBox 4">
            <a:extLst>
              <a:ext uri="{FF2B5EF4-FFF2-40B4-BE49-F238E27FC236}">
                <a16:creationId xmlns:a16="http://schemas.microsoft.com/office/drawing/2014/main" xmlns="" id="{C9F69CA7-60D8-FC0C-A381-CC2BECF1E152}"/>
              </a:ext>
            </a:extLst>
          </p:cNvPr>
          <p:cNvSpPr txBox="1"/>
          <p:nvPr/>
        </p:nvSpPr>
        <p:spPr>
          <a:xfrm>
            <a:off x="1066800" y="800100"/>
            <a:ext cx="9144000" cy="1099019"/>
          </a:xfrm>
          <a:prstGeom prst="rect">
            <a:avLst/>
          </a:prstGeom>
        </p:spPr>
        <p:txBody>
          <a:bodyPr lIns="0" tIns="0" rIns="0" bIns="0" rtlCol="0" anchor="t">
            <a:spAutoFit/>
          </a:bodyPr>
          <a:lstStyle>
            <a:defPPr>
              <a:defRPr lang="en-US"/>
            </a:defPPr>
            <a:lvl1pPr>
              <a:lnSpc>
                <a:spcPts val="8959"/>
              </a:lnSpc>
              <a:defRPr sz="6399" b="1" i="1">
                <a:solidFill>
                  <a:srgbClr val="0F4662"/>
                </a:solidFill>
                <a:latin typeface="Cormorant Garamond Bold Italics"/>
              </a:defRPr>
            </a:lvl1pPr>
          </a:lstStyle>
          <a:p>
            <a:r>
              <a:rPr lang="en-GB" dirty="0" smtClean="0"/>
              <a:t>FUTURE SCOPE</a:t>
            </a:r>
            <a:endParaRPr lang="en-IN" dirty="0"/>
          </a:p>
        </p:txBody>
      </p:sp>
      <p:sp>
        <p:nvSpPr>
          <p:cNvPr id="8" name="Freeform 4">
            <a:extLst>
              <a:ext uri="{FF2B5EF4-FFF2-40B4-BE49-F238E27FC236}">
                <a16:creationId xmlns:a16="http://schemas.microsoft.com/office/drawing/2014/main" xmlns="" id="{40BBC7B5-4B25-701D-7F10-0AD88F52DE23}"/>
              </a:ext>
            </a:extLst>
          </p:cNvPr>
          <p:cNvSpPr/>
          <p:nvPr/>
        </p:nvSpPr>
        <p:spPr>
          <a:xfrm>
            <a:off x="15579303" y="69114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Tree>
    <p:extLst>
      <p:ext uri="{BB962C8B-B14F-4D97-AF65-F5344CB8AC3E}">
        <p14:creationId xmlns:p14="http://schemas.microsoft.com/office/powerpoint/2010/main" xmlns="" val="30759641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a:extLst>
            <a:ext uri="{FF2B5EF4-FFF2-40B4-BE49-F238E27FC236}">
              <a16:creationId xmlns:a16="http://schemas.microsoft.com/office/drawing/2014/main" xmlns="" id="{98F32D7E-F78E-B8ED-95BB-BB0662C1E4B0}"/>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xmlns="" id="{5743EC6B-DFF8-F552-91CD-110507E3BB1D}"/>
              </a:ext>
            </a:extLst>
          </p:cNvPr>
          <p:cNvSpPr txBox="1"/>
          <p:nvPr/>
        </p:nvSpPr>
        <p:spPr>
          <a:xfrm>
            <a:off x="1028700" y="599709"/>
            <a:ext cx="4914900" cy="1154162"/>
          </a:xfrm>
          <a:prstGeom prst="rect">
            <a:avLst/>
          </a:prstGeom>
        </p:spPr>
        <p:txBody>
          <a:bodyPr wrap="square"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REFERENCES</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3" name="TextBox 3">
            <a:extLst>
              <a:ext uri="{FF2B5EF4-FFF2-40B4-BE49-F238E27FC236}">
                <a16:creationId xmlns:a16="http://schemas.microsoft.com/office/drawing/2014/main" xmlns="" id="{F444AAF8-456B-326E-71C8-0F15D627A1EE}"/>
              </a:ext>
            </a:extLst>
          </p:cNvPr>
          <p:cNvSpPr txBox="1"/>
          <p:nvPr/>
        </p:nvSpPr>
        <p:spPr>
          <a:xfrm>
            <a:off x="762000" y="2095500"/>
            <a:ext cx="16764000" cy="7732117"/>
          </a:xfrm>
          <a:prstGeom prst="rect">
            <a:avLst/>
          </a:prstGeom>
        </p:spPr>
        <p:txBody>
          <a:bodyPr wrap="square" lIns="0" tIns="0" rIns="0" bIns="0" rtlCol="0" anchor="t">
            <a:spAutoFit/>
          </a:bodyPr>
          <a:lstStyle/>
          <a:p>
            <a:pPr algn="just">
              <a:lnSpc>
                <a:spcPct val="150000"/>
              </a:lnSpc>
            </a:pPr>
            <a:r>
              <a:rPr lang="en-IN" sz="2600" dirty="0">
                <a:solidFill>
                  <a:srgbClr val="0F4662"/>
                </a:solidFill>
                <a:latin typeface="Quicksand"/>
              </a:rPr>
              <a:t>[1]. G. S. Özcan and Y. C. Bilge, “Hand and Pose-Based Feature Selection for Zero-Shot Sign Language Recognition,” IEEE Conference on Computer Vision and Pattern Recognition, pp. 1–10, 2024.</a:t>
            </a:r>
            <a:r>
              <a:rPr lang="en-US" sz="2600" dirty="0">
                <a:solidFill>
                  <a:srgbClr val="0F4662"/>
                </a:solidFill>
                <a:latin typeface="Quicksand"/>
                <a:sym typeface="Quicksand"/>
              </a:rPr>
              <a:t> </a:t>
            </a:r>
          </a:p>
          <a:p>
            <a:pPr algn="just">
              <a:lnSpc>
                <a:spcPct val="150000"/>
              </a:lnSpc>
            </a:pPr>
            <a:r>
              <a:rPr lang="en-IN" sz="2600" dirty="0">
                <a:solidFill>
                  <a:srgbClr val="0F4662"/>
                </a:solidFill>
                <a:latin typeface="Quicksand"/>
              </a:rPr>
              <a:t>[2]. D. R. </a:t>
            </a:r>
            <a:r>
              <a:rPr lang="en-IN" sz="2600" dirty="0" err="1">
                <a:solidFill>
                  <a:srgbClr val="0F4662"/>
                </a:solidFill>
                <a:latin typeface="Quicksand"/>
              </a:rPr>
              <a:t>Kothadiya</a:t>
            </a:r>
            <a:r>
              <a:rPr lang="en-IN" sz="2600" dirty="0">
                <a:solidFill>
                  <a:srgbClr val="0F4662"/>
                </a:solidFill>
                <a:latin typeface="Quicksand"/>
              </a:rPr>
              <a:t> and C. M. Bhatt, “Hybrid </a:t>
            </a:r>
            <a:r>
              <a:rPr lang="en-IN" sz="2600" dirty="0" err="1">
                <a:solidFill>
                  <a:srgbClr val="0F4662"/>
                </a:solidFill>
                <a:latin typeface="Quicksand"/>
              </a:rPr>
              <a:t>InceptionNet</a:t>
            </a:r>
            <a:r>
              <a:rPr lang="en-IN" sz="2600" dirty="0">
                <a:solidFill>
                  <a:srgbClr val="0F4662"/>
                </a:solidFill>
                <a:latin typeface="Quicksand"/>
              </a:rPr>
              <a:t> Based Enhanced Architecture for Isolated Sign Language Recognition,” International Conference on Intelligent Computing and Signal Processing, pp. 112–118, 2024. </a:t>
            </a:r>
          </a:p>
          <a:p>
            <a:pPr algn="just">
              <a:lnSpc>
                <a:spcPct val="150000"/>
              </a:lnSpc>
            </a:pPr>
            <a:r>
              <a:rPr lang="en-IN" sz="2600" dirty="0">
                <a:solidFill>
                  <a:srgbClr val="0F4662"/>
                </a:solidFill>
                <a:latin typeface="Quicksand"/>
              </a:rPr>
              <a:t>[3]. M. Zhang and S. Yang, “Deep Learning-Based Standard Sign Language Discrimination,” IEEE Transactions on Learning Technologies, Vol. 16, no. 1, pp. 45–57, 2023. </a:t>
            </a:r>
          </a:p>
          <a:p>
            <a:pPr algn="just">
              <a:lnSpc>
                <a:spcPct val="150000"/>
              </a:lnSpc>
            </a:pPr>
            <a:r>
              <a:rPr lang="en-IN" sz="2600" dirty="0">
                <a:solidFill>
                  <a:srgbClr val="0F4662"/>
                </a:solidFill>
                <a:latin typeface="Quicksand"/>
              </a:rPr>
              <a:t>[4]. F. Morillas-Espejo, “Sign4all: A Low-Cost Application for Deaf People Communication,” Journal of Accessibility and Design for All, Vol. 13, no. 2, pp. 201–215, 2023. </a:t>
            </a:r>
          </a:p>
          <a:p>
            <a:pPr algn="just">
              <a:lnSpc>
                <a:spcPct val="150000"/>
              </a:lnSpc>
            </a:pPr>
            <a:r>
              <a:rPr lang="en-IN" sz="2600" dirty="0">
                <a:solidFill>
                  <a:srgbClr val="0F4662"/>
                </a:solidFill>
                <a:latin typeface="Quicksand"/>
              </a:rPr>
              <a:t>[5]. H. Luqman, “An Efficient Two-Stream Network for Isolated Sign Language Recognition Using Accumulative Video Motion,” Multimedia Tools and Applications, Vol. 82, pp. 15093–15110, 2022. </a:t>
            </a:r>
          </a:p>
          <a:p>
            <a:pPr algn="just">
              <a:lnSpc>
                <a:spcPct val="150000"/>
              </a:lnSpc>
            </a:pPr>
            <a:r>
              <a:rPr lang="en-IN" sz="2600" dirty="0">
                <a:solidFill>
                  <a:srgbClr val="0F4662"/>
                </a:solidFill>
                <a:latin typeface="Quicksand"/>
              </a:rPr>
              <a:t>[6]. J. </a:t>
            </a:r>
            <a:r>
              <a:rPr lang="en-IN" sz="2600" dirty="0" err="1">
                <a:solidFill>
                  <a:srgbClr val="0F4662"/>
                </a:solidFill>
                <a:latin typeface="Quicksand"/>
              </a:rPr>
              <a:t>DelPreto</a:t>
            </a:r>
            <a:r>
              <a:rPr lang="en-IN" sz="2600" dirty="0">
                <a:solidFill>
                  <a:srgbClr val="0F4662"/>
                </a:solidFill>
                <a:latin typeface="Quicksand"/>
              </a:rPr>
              <a:t> and J. Hughes, “A Wearable Smart Glove and Its Application of Pose and Gesture Detection to Sign Language Classification,” IEEE Sensors Journal, Vol. 22, no. 4, pp. 2958–2967, 2022.</a:t>
            </a:r>
          </a:p>
        </p:txBody>
      </p:sp>
      <p:sp>
        <p:nvSpPr>
          <p:cNvPr id="4" name="Freeform 4">
            <a:extLst>
              <a:ext uri="{FF2B5EF4-FFF2-40B4-BE49-F238E27FC236}">
                <a16:creationId xmlns:a16="http://schemas.microsoft.com/office/drawing/2014/main" xmlns="" id="{834C7FD4-9D31-DF43-F9BF-537C599B22E3}"/>
              </a:ext>
            </a:extLst>
          </p:cNvPr>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5" name="AutoShape 5">
            <a:extLst>
              <a:ext uri="{FF2B5EF4-FFF2-40B4-BE49-F238E27FC236}">
                <a16:creationId xmlns:a16="http://schemas.microsoft.com/office/drawing/2014/main" xmlns="" id="{1B94C3E4-4DB5-F4E7-4DBD-D288049DA076}"/>
              </a:ext>
            </a:extLst>
          </p:cNvPr>
          <p:cNvSpPr/>
          <p:nvPr/>
        </p:nvSpPr>
        <p:spPr>
          <a:xfrm>
            <a:off x="10767060" y="1646824"/>
            <a:ext cx="6492240" cy="0"/>
          </a:xfrm>
          <a:prstGeom prst="line">
            <a:avLst/>
          </a:prstGeom>
          <a:ln w="76200" cap="flat">
            <a:solidFill>
              <a:srgbClr val="0F4662"/>
            </a:solidFill>
            <a:prstDash val="solid"/>
            <a:headEnd type="none" w="sm" len="sm"/>
            <a:tailEnd type="none" w="sm" len="sm"/>
          </a:ln>
        </p:spPr>
      </p:sp>
    </p:spTree>
    <p:extLst>
      <p:ext uri="{BB962C8B-B14F-4D97-AF65-F5344CB8AC3E}">
        <p14:creationId xmlns:p14="http://schemas.microsoft.com/office/powerpoint/2010/main" xmlns="" val="42186770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3442710" y="3369664"/>
            <a:ext cx="11402580" cy="3185722"/>
          </a:xfrm>
          <a:prstGeom prst="rect">
            <a:avLst/>
          </a:prstGeom>
        </p:spPr>
        <p:txBody>
          <a:bodyPr lIns="0" tIns="0" rIns="0" bIns="0" rtlCol="0" anchor="t">
            <a:spAutoFit/>
          </a:bodyPr>
          <a:lstStyle/>
          <a:p>
            <a:pPr marL="0" lvl="0" indent="0" algn="ctr">
              <a:lnSpc>
                <a:spcPts val="26009"/>
              </a:lnSpc>
              <a:spcBef>
                <a:spcPct val="0"/>
              </a:spcBef>
            </a:pPr>
            <a:r>
              <a:rPr lang="en-US" sz="18577" b="1" i="1">
                <a:solidFill>
                  <a:srgbClr val="0F4662"/>
                </a:solidFill>
                <a:latin typeface="Cormorant Garamond Bold Italics"/>
                <a:ea typeface="Cormorant Garamond Bold Italics"/>
                <a:cs typeface="Cormorant Garamond Bold Italics"/>
                <a:sym typeface="Cormorant Garamond Bold Italics"/>
              </a:rPr>
              <a:t>Thank you</a:t>
            </a:r>
          </a:p>
        </p:txBody>
      </p:sp>
      <p:sp>
        <p:nvSpPr>
          <p:cNvPr id="3" name="AutoShape 3"/>
          <p:cNvSpPr/>
          <p:nvPr/>
        </p:nvSpPr>
        <p:spPr>
          <a:xfrm>
            <a:off x="5897880" y="2215083"/>
            <a:ext cx="6492240" cy="0"/>
          </a:xfrm>
          <a:prstGeom prst="line">
            <a:avLst/>
          </a:prstGeom>
          <a:ln w="76200" cap="flat">
            <a:solidFill>
              <a:srgbClr val="0F4662"/>
            </a:solidFill>
            <a:prstDash val="solid"/>
            <a:headEnd type="none" w="sm" len="sm"/>
            <a:tailEnd type="none" w="sm" len="sm"/>
          </a:ln>
        </p:spPr>
      </p:sp>
      <p:sp>
        <p:nvSpPr>
          <p:cNvPr id="4" name="Freeform 4"/>
          <p:cNvSpPr/>
          <p:nvPr/>
        </p:nvSpPr>
        <p:spPr>
          <a:xfrm>
            <a:off x="8304001" y="1116666"/>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5" name="AutoShape 5"/>
          <p:cNvSpPr/>
          <p:nvPr/>
        </p:nvSpPr>
        <p:spPr>
          <a:xfrm>
            <a:off x="5897880" y="8159883"/>
            <a:ext cx="6492240" cy="0"/>
          </a:xfrm>
          <a:prstGeom prst="line">
            <a:avLst/>
          </a:prstGeom>
          <a:ln w="76200" cap="flat">
            <a:solidFill>
              <a:srgbClr val="0F4662"/>
            </a:solidFill>
            <a:prstDash val="solid"/>
            <a:headEnd type="none" w="sm" len="sm"/>
            <a:tailEnd type="none" w="sm" len="sm"/>
          </a:ln>
        </p:spPr>
      </p:sp>
      <p:sp>
        <p:nvSpPr>
          <p:cNvPr id="6" name="Freeform 6"/>
          <p:cNvSpPr/>
          <p:nvPr/>
        </p:nvSpPr>
        <p:spPr>
          <a:xfrm>
            <a:off x="8304001" y="9008400"/>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206</TotalTime>
  <Words>2754</Words>
  <Application>Microsoft Office PowerPoint</Application>
  <PresentationFormat>Custom</PresentationFormat>
  <Paragraphs>351</Paragraphs>
  <Slides>39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Arial</vt:lpstr>
      <vt:lpstr>Cormorant Garamond Bold Italics</vt:lpstr>
      <vt:lpstr>Quicksand Bold</vt:lpstr>
      <vt:lpstr>Calibri</vt:lpstr>
      <vt:lpstr>Quicksand</vt:lpstr>
      <vt:lpstr>Cormorant Garamond</vt:lpstr>
      <vt:lpstr>Cormorant Garamond Bold</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Blue Simple Modern Enhancing Sales Strategy Presentation</dc:title>
  <cp:lastModifiedBy>toshiba</cp:lastModifiedBy>
  <cp:revision>20</cp:revision>
  <dcterms:created xsi:type="dcterms:W3CDTF">2006-08-16T00:00:00Z</dcterms:created>
  <dcterms:modified xsi:type="dcterms:W3CDTF">2025-05-22T15:12:59Z</dcterms:modified>
  <dc:identifier>DAGjS8npQuU</dc:identifier>
</cp:coreProperties>
</file>